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Title. One line: cash flows TradFi to TradFi; the permissioned DLT is a shared messaging/coordination layer, not a value rail. FireFly mints CMTAT tokens representing RCNs. Frame the whole talk as fiat-in / coordinate / fiat-out.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product. An RCN is a structured debt security = zero-coupon note + a short put the investor implicitly sells for an above-market coupon. Barrier OK -&gt; cash par; barrier breached -&gt; physical delivery at a loss. Classification as a security (not e-money) is what drives the entire compliance overlay.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Building blocks. CMTAT gives audited security-token primitives (mint/burn, pause, freeze, RuleEngine eligibility, snapshot, debt module). FireFly is the orchestration supernode: token+blockchain connectors, durable event streams, off-chain data exchange for PII, idempotent transaction manager. Together: 'cash settled' -&gt; 'note recorded once, everyone notified.'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Architecture. Three bands: cash stays in TradFi (rail in -&gt; escrow -&gt; rail out); the gateway correlates; the DLT only messages. Bold arrows are coordination signals, dashed arrows are payout instructions back to the bank. Every institution reads the same ledger instead of reconciling private copies.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real hard part. There is NO on-chain value leg to make atomic - that's a feature. The problem is correlating an off-chain cash event to an on-chain message exactly once with a safe reversal. Recommended: escrow + message-on-finality, escrow release gated on the mint event. No value on-chain = tiny failure surface.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Mint sequence. Client pays -&gt; escrow -&gt; pacs.002 finality -&gt; idempotency check -&gt; FireFly mints (operationId = subscriptionId) -&gt; mint event releases escrow to issuer. Re-delivered payment events never double-mint. On reject/timeout the escrow auto-refunds - cash is never trapped.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Reverse leg. On-chain event is the trigger, cash is the effect, back out on a TradFi rail. Coupon uses the snapshot holder-of-record set; burn precedes payout; physical settlement is burn + off-chain custodian delivery. Keyed on eventId for exactly-once payout.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Lifecycle. Three ways out of Active: recurring coupon cycle (snapshot -&gt; pay -&gt; back), an involuntary Frozen hold (sanctions/court), and the terminal Exit where a single barrier decision routes to cash redemption vs physical delivery. Autocall enters Exit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Jurisdiction matrix. The token's nature (structured debt security) is stable, but rails, register law, disclosure and marketing rules diverge. All gating lives in the RuleEngine, not the UI: wallet jurisdiction checked on every transfer, Travel-Rule payloads off-chain (IVMS-101), PII as hashes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Implementation. Two thin layers. The Solidity token is deliberately minimal - lifecycle is driven by the off-chain FireFly orchestrator holding ISSUER_ROLE. The orchestrator is idempotent on subscriptionId and waits for finality. Business logic stays on upgradeable modules.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Reliability &amp; threats. Design failure-first: durable streams, idempotency, escrow auto-refund, confirm-on-finality. Threats map to controls: HSM/MPC + multisig for keys, signed multi-source oracle, RuleEngine on every transfer, PII off-chain, jurisdiction enforced on transfer. Invariant: the reconciliation store is the source of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Fiat-out sequence in detail. Walk the coupon and both redemption branches. Emphasise: burn is the authoritative 'settling' signal and always precedes cash; eventId idempotency makes a crash between burn and payout recoverable.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Variant-B reconciler. When the register stays at the transfer agent, chain and TA book can drift, so reconcile holder-by-holder plus a supply invariant on every finalized event batch. On divergence: contain (pause) and alarm - never auto-fix legal truth. Optional Merkle-root anchor gives tamper-evident proof with no PII.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Design fork. Variant A: token IS the register (ledger-based security) - needs DLT securities law, gives on-chain title finality. Variant B: token is only the message, register stays at the transfer agent - deploys anywhere, US in scope. Same code; only the legal wrapper and reconciliation duty change. B is the cross-border default.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Governance. No ranked decision is unilateral. A standing specialist committee (legal, compliance, risk, payments, DLT) owns the rankings and each product approval. Bound on-chain: committee approval is a mint precondition - no sign-off, no product record, no mint, no cash. Authority is enforced end-to-end, not filed in a drawer.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Close. Fiat in, fiat out, TradFi both ends. The DLT is a shared message bus; correlation - not value transfer - is the architecture. Everything is illustrative and unaudited; validate with counsel and regulators before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148085908000" cy="6270955200000"/>
          </a:xfrm>
          <a:prstGeom prst="rect">
            <a:avLst/>
          </a:prstGeom>
          <a:solidFill>
            <a:srgbClr val="0F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09360"/>
            <a:ext cx="11148085908000" cy="54864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371600"/>
            <a:ext cx="82296" cy="1097280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234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C8922B"/>
                </a:solidFill>
                <a:latin typeface="Calibri"/>
              </a:rPr>
              <a:t>REFERENCE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783080"/>
            <a:ext cx="102412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200" b="1">
                <a:solidFill>
                  <a:srgbClr val="FFFFFF"/>
                </a:solidFill>
                <a:latin typeface="Calibri"/>
              </a:rPr>
              <a:t>Instant-Payment Front-to-Back</a:t>
            </a:r>
          </a:p>
          <a:p>
            <a:pPr algn="l">
              <a:lnSpc>
                <a:spcPct val="102000"/>
              </a:lnSpc>
            </a:pPr>
            <a:r>
              <a:rPr sz="4200" b="1">
                <a:solidFill>
                  <a:srgbClr val="FFFFFF"/>
                </a:solidFill>
                <a:latin typeface="Calibri"/>
              </a:rPr>
              <a:t>Settlement Gateway for Tokenized RCNs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977639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BFD2F0"/>
                </a:solidFill>
                <a:latin typeface="Calibri"/>
              </a:rPr>
              <a:t>Cash flows </a:t>
            </a:r>
            <a:r>
              <a:rPr sz="1900" b="1">
                <a:solidFill>
                  <a:srgbClr val="C8922B"/>
                </a:solidFill>
                <a:latin typeface="Calibri"/>
              </a:rPr>
              <a:t>TradFi → TradFi</a:t>
            </a:r>
            <a:r>
              <a:rPr sz="1900" b="0">
                <a:solidFill>
                  <a:srgbClr val="BFD2F0"/>
                </a:solidFill>
                <a:latin typeface="Calibri"/>
              </a:rPr>
              <a:t>.  The permissioned DLT is the shared</a:t>
            </a:r>
          </a:p>
          <a:p>
            <a:pPr algn="l">
              <a:lnSpc>
                <a:spcPct val="110000"/>
              </a:lnSpc>
            </a:pPr>
            <a:r>
              <a:rPr sz="1900" b="0">
                <a:solidFill>
                  <a:srgbClr val="BFD2F0"/>
                </a:solidFill>
                <a:latin typeface="Calibri"/>
              </a:rPr>
              <a:t>messaging / coordination layer — FireFly minting CMTAT tokens for RCNs.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63825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AADC8"/>
                </a:solidFill>
                <a:latin typeface="Calibri"/>
              </a:rPr>
              <a:t>DLT engineering · FireFly integration · cross-border settlement · multi-jurisdiction compliance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WHAT WE TOKENIZE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The instrument — Reverse Convertible Note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74519"/>
            <a:ext cx="50292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11680"/>
            <a:ext cx="46634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0F1A2B"/>
                </a:solidFill>
                <a:latin typeface="Calibri"/>
              </a:rPr>
              <a:t>RCN = </a:t>
            </a:r>
            <a:r>
              <a:rPr sz="1700" b="1">
                <a:solidFill>
                  <a:srgbClr val="2D6CDF"/>
                </a:solidFill>
                <a:latin typeface="Calibri"/>
              </a:rPr>
              <a:t>zero-coupon note</a:t>
            </a:r>
            <a:r>
              <a:rPr sz="1700" b="1">
                <a:solidFill>
                  <a:srgbClr val="0F1A2B"/>
                </a:solidFill>
                <a:latin typeface="Calibri"/>
              </a:rPr>
              <a:t>  +  </a:t>
            </a:r>
            <a:r>
              <a:rPr sz="1700" b="1">
                <a:solidFill>
                  <a:srgbClr val="119DA4"/>
                </a:solidFill>
                <a:latin typeface="Calibri"/>
              </a:rPr>
              <a:t>short put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6778"/>
                </a:solidFill>
                <a:latin typeface="Calibri"/>
              </a:rPr>
              <a:t>Above-market coupon funded by the option premium the investor implicitly sells.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00400"/>
            <a:ext cx="502920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2D6CDF"/>
                </a:solidFill>
                <a:latin typeface="Calibri"/>
              </a:rPr>
              <a:t>▸ </a:t>
            </a:r>
            <a:r>
              <a:rPr sz="1450" b="1">
                <a:solidFill>
                  <a:srgbClr val="0F1A2B"/>
                </a:solidFill>
                <a:latin typeface="Calibri"/>
              </a:rPr>
              <a:t>Barrier ≥ level → </a:t>
            </a:r>
            <a:r>
              <a:rPr sz="1450" b="0">
                <a:solidFill>
                  <a:srgbClr val="5A6778"/>
                </a:solidFill>
                <a:latin typeface="Calibri"/>
              </a:rPr>
              <a:t>cash redemption at par + coupon (token burned)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2D6CDF"/>
                </a:solidFill>
                <a:latin typeface="Calibri"/>
              </a:rPr>
              <a:t>▸ </a:t>
            </a:r>
            <a:r>
              <a:rPr sz="1450" b="1">
                <a:solidFill>
                  <a:srgbClr val="0F1A2B"/>
                </a:solidFill>
                <a:latin typeface="Calibri"/>
              </a:rPr>
              <a:t>Barrier &lt; level → </a:t>
            </a:r>
            <a:r>
              <a:rPr sz="1450" b="0">
                <a:solidFill>
                  <a:srgbClr val="5A6778"/>
                </a:solidFill>
                <a:latin typeface="Calibri"/>
              </a:rPr>
              <a:t>physical delivery of underlying, at a loss (token burned)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2D6CDF"/>
                </a:solidFill>
                <a:latin typeface="Calibri"/>
              </a:rPr>
              <a:t>▸ </a:t>
            </a:r>
            <a:r>
              <a:rPr sz="1450" b="1">
                <a:solidFill>
                  <a:srgbClr val="0F1A2B"/>
                </a:solidFill>
                <a:latin typeface="Calibri"/>
              </a:rPr>
              <a:t>Variants: </a:t>
            </a:r>
            <a:r>
              <a:rPr sz="1450" b="0">
                <a:solidFill>
                  <a:srgbClr val="5A6778"/>
                </a:solidFill>
                <a:latin typeface="Calibri"/>
              </a:rPr>
              <a:t>barrier / knock-in, worst-of basket, autocallable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874519"/>
            <a:ext cx="5193792" cy="4206240"/>
          </a:xfrm>
          <a:prstGeom prst="roundRect">
            <a:avLst/>
          </a:prstGeom>
          <a:solidFill>
            <a:srgbClr val="EEF3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0574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2A4A"/>
                </a:solidFill>
                <a:latin typeface="Calibri"/>
              </a:rPr>
              <a:t>Why classification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651760"/>
            <a:ext cx="466344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 b="1">
                <a:solidFill>
                  <a:srgbClr val="2D6CDF"/>
                </a:solidFill>
                <a:latin typeface="Calibri"/>
              </a:rPr>
              <a:t>▸ </a:t>
            </a:r>
            <a:r>
              <a:rPr sz="1400" b="1">
                <a:solidFill>
                  <a:srgbClr val="0F1A2B"/>
                </a:solidFill>
                <a:latin typeface="Calibri"/>
              </a:rPr>
              <a:t>Structured DEBT security</a:t>
            </a:r>
            <a:r>
              <a:rPr sz="1400" b="0">
                <a:solidFill>
                  <a:srgbClr val="5A6778"/>
                </a:solidFill>
                <a:latin typeface="Calibri"/>
              </a:rPr>
              <a:t> — not e-money, not a payment token.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 b="1">
                <a:solidFill>
                  <a:srgbClr val="2D6CDF"/>
                </a:solidFill>
                <a:latin typeface="Calibri"/>
              </a:rPr>
              <a:t>▸ </a:t>
            </a:r>
            <a:r>
              <a:rPr sz="1400" b="1">
                <a:solidFill>
                  <a:srgbClr val="0F1A2B"/>
                </a:solidFill>
                <a:latin typeface="Calibri"/>
              </a:rPr>
              <a:t>Drives the overlay:</a:t>
            </a:r>
            <a:r>
              <a:rPr sz="1400" b="0">
                <a:solidFill>
                  <a:srgbClr val="5A6778"/>
                </a:solidFill>
                <a:latin typeface="Calibri"/>
              </a:rPr>
              <a:t> prospectus / PRIIPs KID, MiFID II product governance &amp; appropriateness.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 b="1">
                <a:solidFill>
                  <a:srgbClr val="2D6CDF"/>
                </a:solidFill>
                <a:latin typeface="Calibri"/>
              </a:rPr>
              <a:t>▸ </a:t>
            </a:r>
            <a:r>
              <a:rPr sz="1400" b="1">
                <a:solidFill>
                  <a:srgbClr val="0F1A2B"/>
                </a:solidFill>
                <a:latin typeface="Calibri"/>
              </a:rPr>
              <a:t>Transfer-agent duties</a:t>
            </a:r>
            <a:r>
              <a:rPr sz="1400" b="0">
                <a:solidFill>
                  <a:srgbClr val="5A6778"/>
                </a:solidFill>
                <a:latin typeface="Calibri"/>
              </a:rPr>
              <a:t> and investor-eligibility gating apply.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 b="1">
                <a:solidFill>
                  <a:srgbClr val="2D6CDF"/>
                </a:solidFill>
                <a:latin typeface="Calibri"/>
              </a:rPr>
              <a:t>▸ </a:t>
            </a:r>
            <a:r>
              <a:rPr sz="1400" b="1">
                <a:solidFill>
                  <a:srgbClr val="0F1A2B"/>
                </a:solidFill>
                <a:latin typeface="Calibri"/>
              </a:rPr>
              <a:t>Token is the register</a:t>
            </a:r>
            <a:r>
              <a:rPr sz="1400" b="0">
                <a:solidFill>
                  <a:srgbClr val="5A6778"/>
                </a:solidFill>
                <a:latin typeface="Calibri"/>
              </a:rPr>
              <a:t> where DLT law allows (ledger-based security).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BUILDING BLOCKS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Why CMTAT + Hyperledger FireFly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0749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9339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2D6CDF"/>
                </a:solidFill>
                <a:latin typeface="Calibri"/>
              </a:rPr>
              <a:t>CMTAT</a:t>
            </a:r>
            <a:r>
              <a:rPr sz="1400" b="0">
                <a:solidFill>
                  <a:srgbClr val="5A6778"/>
                </a:solidFill>
                <a:latin typeface="Calibri"/>
              </a:rPr>
              <a:t>  security-token framework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606040"/>
            <a:ext cx="461772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2D6CDF"/>
                </a:solidFill>
                <a:latin typeface="Calibri"/>
              </a:rPr>
              <a:t>▸ </a:t>
            </a:r>
            <a:r>
              <a:rPr sz="1350" b="1">
                <a:solidFill>
                  <a:srgbClr val="0F1A2B"/>
                </a:solidFill>
                <a:latin typeface="Calibri"/>
              </a:rPr>
              <a:t>Mint / Burn</a:t>
            </a:r>
            <a:r>
              <a:rPr sz="1350" b="0">
                <a:solidFill>
                  <a:srgbClr val="5A6778"/>
                </a:solidFill>
                <a:latin typeface="Calibri"/>
              </a:rPr>
              <a:t> — issue on cash finality; redeem at maturity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2D6CDF"/>
                </a:solidFill>
                <a:latin typeface="Calibri"/>
              </a:rPr>
              <a:t>▸ </a:t>
            </a:r>
            <a:r>
              <a:rPr sz="1350" b="1">
                <a:solidFill>
                  <a:srgbClr val="0F1A2B"/>
                </a:solidFill>
                <a:latin typeface="Calibri"/>
              </a:rPr>
              <a:t>Pause / Enforcement</a:t>
            </a:r>
            <a:r>
              <a:rPr sz="1350" b="0">
                <a:solidFill>
                  <a:srgbClr val="5A6778"/>
                </a:solidFill>
                <a:latin typeface="Calibri"/>
              </a:rPr>
              <a:t> — halt issuance; freeze a holder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2D6CDF"/>
                </a:solidFill>
                <a:latin typeface="Calibri"/>
              </a:rPr>
              <a:t>▸ </a:t>
            </a:r>
            <a:r>
              <a:rPr sz="1350" b="1">
                <a:solidFill>
                  <a:srgbClr val="0F1A2B"/>
                </a:solidFill>
                <a:latin typeface="Calibri"/>
              </a:rPr>
              <a:t>RuleEngine (ERC-1404)</a:t>
            </a:r>
            <a:r>
              <a:rPr sz="1350" b="0">
                <a:solidFill>
                  <a:srgbClr val="5A6778"/>
                </a:solidFill>
                <a:latin typeface="Calibri"/>
              </a:rPr>
              <a:t> — eligibility &amp; jurisdiction gating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2D6CDF"/>
                </a:solidFill>
                <a:latin typeface="Calibri"/>
              </a:rPr>
              <a:t>▸ </a:t>
            </a:r>
            <a:r>
              <a:rPr sz="1350" b="1">
                <a:solidFill>
                  <a:srgbClr val="0F1A2B"/>
                </a:solidFill>
                <a:latin typeface="Calibri"/>
              </a:rPr>
              <a:t>Snapshot</a:t>
            </a:r>
            <a:r>
              <a:rPr sz="1350" b="0">
                <a:solidFill>
                  <a:srgbClr val="5A6778"/>
                </a:solidFill>
                <a:latin typeface="Calibri"/>
              </a:rPr>
              <a:t> — holders-of-record at each coupon date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2D6CDF"/>
                </a:solidFill>
                <a:latin typeface="Calibri"/>
              </a:rPr>
              <a:t>▸ </a:t>
            </a:r>
            <a:r>
              <a:rPr sz="1350" b="1">
                <a:solidFill>
                  <a:srgbClr val="0F1A2B"/>
                </a:solidFill>
                <a:latin typeface="Calibri"/>
              </a:rPr>
              <a:t>Debt module</a:t>
            </a:r>
            <a:r>
              <a:rPr sz="1350" b="0">
                <a:solidFill>
                  <a:srgbClr val="5A6778"/>
                </a:solidFill>
                <a:latin typeface="Calibri"/>
              </a:rPr>
              <a:t> — coupon schedule, maturity, credit events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828800"/>
            <a:ext cx="516636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99339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19DA4"/>
                </a:solidFill>
                <a:latin typeface="Calibri"/>
              </a:rPr>
              <a:t>FireFly</a:t>
            </a:r>
            <a:r>
              <a:rPr sz="1400" b="0">
                <a:solidFill>
                  <a:srgbClr val="5A6778"/>
                </a:solidFill>
                <a:latin typeface="Calibri"/>
              </a:rPr>
              <a:t>  orchestration supernode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2" y="2606040"/>
            <a:ext cx="470916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119DA4"/>
                </a:solidFill>
                <a:latin typeface="Calibri"/>
              </a:rPr>
              <a:t>▸ </a:t>
            </a:r>
            <a:r>
              <a:rPr sz="1350" b="1">
                <a:solidFill>
                  <a:srgbClr val="0F1A2B"/>
                </a:solidFill>
                <a:latin typeface="Calibri"/>
              </a:rPr>
              <a:t>Token connector</a:t>
            </a:r>
            <a:r>
              <a:rPr sz="1350" b="0">
                <a:solidFill>
                  <a:srgbClr val="5A6778"/>
                </a:solidFill>
                <a:latin typeface="Calibri"/>
              </a:rPr>
              <a:t> — business-level mint/transfer/burn API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119DA4"/>
                </a:solidFill>
                <a:latin typeface="Calibri"/>
              </a:rPr>
              <a:t>▸ </a:t>
            </a:r>
            <a:r>
              <a:rPr sz="1350" b="1">
                <a:solidFill>
                  <a:srgbClr val="0F1A2B"/>
                </a:solidFill>
                <a:latin typeface="Calibri"/>
              </a:rPr>
              <a:t>Blockchain connector</a:t>
            </a:r>
            <a:r>
              <a:rPr sz="1350" b="0">
                <a:solidFill>
                  <a:srgbClr val="5A6778"/>
                </a:solidFill>
                <a:latin typeface="Calibri"/>
              </a:rPr>
              <a:t> — nonce, gas, retry, receipts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119DA4"/>
                </a:solidFill>
                <a:latin typeface="Calibri"/>
              </a:rPr>
              <a:t>▸ </a:t>
            </a:r>
            <a:r>
              <a:rPr sz="1350" b="1">
                <a:solidFill>
                  <a:srgbClr val="0F1A2B"/>
                </a:solidFill>
                <a:latin typeface="Calibri"/>
              </a:rPr>
              <a:t>Event streams</a:t>
            </a:r>
            <a:r>
              <a:rPr sz="1350" b="0">
                <a:solidFill>
                  <a:srgbClr val="5A6778"/>
                </a:solidFill>
                <a:latin typeface="Calibri"/>
              </a:rPr>
              <a:t> — durable, at-least-once, checkpointed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119DA4"/>
                </a:solidFill>
                <a:latin typeface="Calibri"/>
              </a:rPr>
              <a:t>▸ </a:t>
            </a:r>
            <a:r>
              <a:rPr sz="1350" b="1">
                <a:solidFill>
                  <a:srgbClr val="0F1A2B"/>
                </a:solidFill>
                <a:latin typeface="Calibri"/>
              </a:rPr>
              <a:t>Data exchange</a:t>
            </a:r>
            <a:r>
              <a:rPr sz="1350" b="0">
                <a:solidFill>
                  <a:srgbClr val="5A6778"/>
                </a:solidFill>
                <a:latin typeface="Calibri"/>
              </a:rPr>
              <a:t> — PII / KID off-chain, hash on-chain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119DA4"/>
                </a:solidFill>
                <a:latin typeface="Calibri"/>
              </a:rPr>
              <a:t>▸ </a:t>
            </a:r>
            <a:r>
              <a:rPr sz="1350" b="1">
                <a:solidFill>
                  <a:srgbClr val="0F1A2B"/>
                </a:solidFill>
                <a:latin typeface="Calibri"/>
              </a:rPr>
              <a:t>Transaction manager</a:t>
            </a:r>
            <a:r>
              <a:rPr sz="1350" b="0">
                <a:solidFill>
                  <a:srgbClr val="5A6778"/>
                </a:solidFill>
                <a:latin typeface="Calibri"/>
              </a:rPr>
              <a:t> — idempotent, exactly-once mint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2A4A"/>
                </a:solidFill>
                <a:latin typeface="Calibri"/>
              </a:rPr>
              <a:t>Net: FireFly turns “cash settled with finality” into “token minted, once, to the right wallet, with the right restrictions.”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HOW IT FITS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Front-to-back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74519"/>
            <a:ext cx="33832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 Same Side Corner Rectangle 8"/>
          <p:cNvSpPr/>
          <p:nvPr/>
        </p:nvSpPr>
        <p:spPr>
          <a:xfrm>
            <a:off x="822960" y="1874519"/>
            <a:ext cx="3383280" cy="457200"/>
          </a:xfrm>
          <a:prstGeom prst="round2Same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29384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Calibri"/>
              </a:rPr>
              <a:t>① CASH — TradFi → TradFi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8" y="1874519"/>
            <a:ext cx="33832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 Same Side Corner Rectangle 11"/>
          <p:cNvSpPr/>
          <p:nvPr/>
        </p:nvSpPr>
        <p:spPr>
          <a:xfrm>
            <a:off x="4407408" y="1874519"/>
            <a:ext cx="3383280" cy="457200"/>
          </a:xfrm>
          <a:prstGeom prst="round2Same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07408" y="1929384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Calibri"/>
              </a:rPr>
              <a:t>② GATEWAY — correlates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1874519"/>
            <a:ext cx="33832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 Same Side Corner Rectangle 14"/>
          <p:cNvSpPr/>
          <p:nvPr/>
        </p:nvSpPr>
        <p:spPr>
          <a:xfrm>
            <a:off x="7991856" y="1874519"/>
            <a:ext cx="3383280" cy="457200"/>
          </a:xfrm>
          <a:prstGeom prst="round2Same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91856" y="1929384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Calibri"/>
              </a:rPr>
              <a:t>③ DLT — MESSAGING (no cash)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" y="2560320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14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633472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Client / Investor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fiat in ↓   ·   fiat out 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0120" y="3310128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14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3383280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Instant Rail IN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subscribe — SEPA Inst · FedNow · RTP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" y="4059936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14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133088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Settlement / Paying Bank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escrow · client-money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0120" y="4809744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14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4882896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Instant Rail OUT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coupon · redemption par → client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44568" y="2560320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2D6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36007" y="2633472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Payment Gateway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ISO 20022 ingestion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44568" y="3310128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2D6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36007" y="3383280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Recon &amp; Idempotency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source of truth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44568" y="4059936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2D6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36007" y="4133088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Compliance Engine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KYC/AML · Travel Rule · eligibility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44568" y="4809744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2D6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36007" y="4882896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FireFly Orchestrator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mint / transfer / burn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29016" y="2560320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119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0456" y="2633472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CMTAT RCN Token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shared golden record + message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29016" y="3310128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119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0456" y="3383280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Authoritative Register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ledger-based security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29016" y="4059936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119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0456" y="4133088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Investor Wallet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whitelisted · custodial / MPC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29016" y="4809744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119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0456" y="4882896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Coordination Events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mint · snapshot · burn → payout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NO ON-CHAIN VALUE LEG TO MAKE ATOMIC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The coordination problem — the actual hard part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5A6778"/>
                </a:solidFill>
                <a:latin typeface="Calibri"/>
              </a:rPr>
              <a:t>Cash stays in TradFi; the DLT only messages. So the problem isn’t atomic value transfer — it’s correlating an off-chain cash event to an on-chain message, exactly once, with a safe reversal.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331720"/>
            <a:ext cx="10543032" cy="384048"/>
          </a:xfrm>
          <a:prstGeom prst="rect">
            <a:avLst/>
          </a:prstGeom>
          <a:solidFill>
            <a:srgbClr val="0F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386584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386584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MECHANISM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386584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TRADE-OFF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715768"/>
            <a:ext cx="10543032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2715768"/>
            <a:ext cx="82296" cy="786384"/>
          </a:xfrm>
          <a:prstGeom prst="rect">
            <a:avLst/>
          </a:prstGeom>
          <a:solidFill>
            <a:srgbClr val="5A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807208"/>
            <a:ext cx="2514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Naïve sequential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807208"/>
            <a:ext cx="3840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778"/>
                </a:solidFill>
                <a:latin typeface="Calibri"/>
              </a:rPr>
              <a:t>Cash finality → then message (mint)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2807208"/>
            <a:ext cx="374903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778"/>
                </a:solidFill>
                <a:latin typeface="Calibri"/>
              </a:rPr>
              <a:t>Window of “cash taken, note not recorded.” Must reconcile + reverse.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502151"/>
            <a:ext cx="10543032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" y="3502151"/>
            <a:ext cx="82296" cy="786384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593591"/>
            <a:ext cx="2514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Escrow + msg-on-finality  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593591"/>
            <a:ext cx="3840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778"/>
                </a:solidFill>
                <a:latin typeface="Calibri"/>
              </a:rPr>
              <a:t>Escrow held; mint only on confirmed finality; auto-refund on timeout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79" y="3593591"/>
            <a:ext cx="374903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778"/>
                </a:solidFill>
                <a:latin typeface="Calibri"/>
              </a:rPr>
              <a:t>Strong client protection; needs safeguarded account. Recommended.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288536"/>
            <a:ext cx="10543032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960" y="4288536"/>
            <a:ext cx="82296" cy="786384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4379975"/>
            <a:ext cx="2514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Escrow release gated on mint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4379975"/>
            <a:ext cx="3840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778"/>
                </a:solidFill>
                <a:latin typeface="Calibri"/>
              </a:rPr>
              <a:t>Escrow → issuer only AFTER on-chain mint event observed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4379975"/>
            <a:ext cx="374903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778"/>
                </a:solidFill>
                <a:latin typeface="Calibri"/>
              </a:rPr>
              <a:t>Kills both races: minted-but-cash-lost and cash-released-but-not-minted.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5074920"/>
            <a:ext cx="10543032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" y="5074920"/>
            <a:ext cx="82296" cy="786384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5166359"/>
            <a:ext cx="2514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Optional on-chain DvP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0" y="5166359"/>
            <a:ext cx="3840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778"/>
                </a:solidFill>
                <a:latin typeface="Calibri"/>
              </a:rPr>
              <a:t>Tokenized deposit on same ledger, where law permits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5166359"/>
            <a:ext cx="374903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778"/>
                </a:solidFill>
                <a:latin typeface="Calibri"/>
              </a:rPr>
              <a:t>Cleanest atomicity — but pulls money on-chain, against the TradFi→TradFi goal.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93445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Recommended: </a:t>
            </a:r>
            <a:r>
              <a:rPr sz="1300" b="0">
                <a:solidFill>
                  <a:srgbClr val="0F1A2B"/>
                </a:solidFill>
                <a:latin typeface="Calibri"/>
              </a:rPr>
              <a:t>escrow + message-on-finality, escrow release gated on the mint event, idempotent reconciliation as source of truth. No value on-chain = tiny failure surface.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EXACTLY-ONCE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Payment → mint sequence (escrow, idempotent)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" y="1645920"/>
            <a:ext cx="1554480" cy="45720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1673352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Client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0353" y="2148840"/>
            <a:ext cx="10972" cy="3794760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258568" y="1645920"/>
            <a:ext cx="1554480" cy="45720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8568" y="1673352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Settlement
Bank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30321" y="2148840"/>
            <a:ext cx="10972" cy="3794760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288536" y="1645920"/>
            <a:ext cx="1554480" cy="45720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88536" y="1673352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Payment
Gateway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60289" y="2148840"/>
            <a:ext cx="10972" cy="3794760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18504" y="1645920"/>
            <a:ext cx="1554480" cy="45720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18504" y="1673352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Recon /
Idempotency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90257" y="2148840"/>
            <a:ext cx="10972" cy="3794760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348471" y="1645920"/>
            <a:ext cx="1554480" cy="45720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48471" y="1673352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FireFly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20225" y="2148840"/>
            <a:ext cx="10972" cy="3794760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78439" y="1645920"/>
            <a:ext cx="1554480" cy="45720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78439" y="1673352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CMTAT
Token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150193" y="2148840"/>
            <a:ext cx="10972" cy="3794760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1005840" y="2468880"/>
            <a:ext cx="2029968" cy="0"/>
          </a:xfrm>
          <a:prstGeom prst="bentConnector3">
            <a:avLst/>
          </a:prstGeom>
          <a:ln w="17780">
            <a:solidFill>
              <a:srgbClr val="0F1A2B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57783" y="217627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0F1A2B"/>
                </a:solidFill>
                <a:latin typeface="Calibri"/>
              </a:rPr>
              <a:t>instant credit transfer (pacs.008)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035808" y="2880360"/>
            <a:ext cx="2029967" cy="0"/>
          </a:xfrm>
          <a:prstGeom prst="bentConnector3">
            <a:avLst/>
          </a:prstGeom>
          <a:ln w="17780">
            <a:solidFill>
              <a:srgbClr val="119DA4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587751" y="258775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19DA4"/>
                </a:solidFill>
                <a:latin typeface="Calibri"/>
              </a:rPr>
              <a:t>pacs.002 ACSC — settlement finality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065775" y="3291840"/>
            <a:ext cx="2029969" cy="0"/>
          </a:xfrm>
          <a:prstGeom prst="bentConnector3">
            <a:avLst/>
          </a:prstGeom>
          <a:ln w="17780">
            <a:solidFill>
              <a:srgbClr val="0F1A2B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617719" y="299923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0F1A2B"/>
                </a:solidFill>
                <a:latin typeface="Calibri"/>
              </a:rPr>
              <a:t>record(subscriptionId, amount)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18504" y="352044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A6778"/>
                </a:solidFill>
                <a:latin typeface="Calibri"/>
              </a:rPr>
              <a:t>idempotency check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095744" y="3977639"/>
            <a:ext cx="2029967" cy="0"/>
          </a:xfrm>
          <a:prstGeom prst="bentConnector3">
            <a:avLst/>
          </a:prstGeom>
          <a:ln w="17780">
            <a:solidFill>
              <a:srgbClr val="2D6CDF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647688" y="3685031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D6CDF"/>
                </a:solidFill>
                <a:latin typeface="Calibri"/>
              </a:rPr>
              <a:t>mintRequest [operationId = subscriptionId]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125711" y="4389120"/>
            <a:ext cx="2029968" cy="0"/>
          </a:xfrm>
          <a:prstGeom prst="bentConnector3">
            <a:avLst/>
          </a:prstGeom>
          <a:ln w="17780">
            <a:solidFill>
              <a:srgbClr val="2D6CDF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677655" y="4096511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D6CDF"/>
                </a:solidFill>
                <a:latin typeface="Calibri"/>
              </a:rPr>
              <a:t>mint(wallet, units)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25711" y="4800600"/>
            <a:ext cx="2029968" cy="0"/>
          </a:xfrm>
          <a:prstGeom prst="bentConnector3">
            <a:avLst/>
          </a:prstGeom>
          <a:ln w="17780">
            <a:prstDash val="dash"/>
            <a:solidFill>
              <a:srgbClr val="119DA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677655" y="450799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19DA4"/>
                </a:solidFill>
                <a:latin typeface="Calibri"/>
              </a:rPr>
              <a:t>Mint event + receipt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095744" y="5212080"/>
            <a:ext cx="2029967" cy="0"/>
          </a:xfrm>
          <a:prstGeom prst="bentConnector3">
            <a:avLst/>
          </a:prstGeom>
          <a:ln w="17780">
            <a:prstDash val="dash"/>
            <a:solidFill>
              <a:srgbClr val="119DA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647688" y="491947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19DA4"/>
                </a:solidFill>
                <a:latin typeface="Calibri"/>
              </a:rPr>
              <a:t>minted(subscriptionId, txHash)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035808" y="5623560"/>
            <a:ext cx="4059936" cy="0"/>
          </a:xfrm>
          <a:prstGeom prst="bentConnector3">
            <a:avLst/>
          </a:prstGeom>
          <a:ln w="17780">
            <a:solidFill>
              <a:srgbClr val="C892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602736" y="533095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8922B"/>
                </a:solidFill>
                <a:latin typeface="Calibri"/>
              </a:rPr>
              <a:t>release escrow to issuer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" y="6144768"/>
            <a:ext cx="10543032" cy="457200"/>
          </a:xfrm>
          <a:prstGeom prst="roundRect">
            <a:avLst/>
          </a:prstGeom>
          <a:solidFill>
            <a:srgbClr val="EEF3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5840" y="6217920"/>
            <a:ext cx="10149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42A4A"/>
                </a:solidFill>
                <a:latin typeface="Calibri"/>
              </a:rPr>
              <a:t>Idempotency key = ISO 20022 end-to-end id = FireFly operationId → re-delivered payment events never double-mint. On reject/timeout → auto-refund escrow.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TOKEN STATE MACHINE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CMTAT ↔ RCN lifecycle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3291840"/>
            <a:ext cx="1371600" cy="6217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46704"/>
            <a:ext cx="1371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Subscribed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3291840"/>
            <a:ext cx="1554480" cy="621792"/>
          </a:xfrm>
          <a:prstGeom prst="roundRect">
            <a:avLst/>
          </a:prstGeom>
          <a:solidFill>
            <a:srgbClr val="EEF3FB"/>
          </a:solidFill>
          <a:ln w="19050">
            <a:solidFill>
              <a:srgbClr val="2D6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0360" y="3346704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Active (in issue)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40280" y="3602736"/>
            <a:ext cx="640080" cy="0"/>
          </a:xfrm>
          <a:prstGeom prst="bentConnector3">
            <a:avLst/>
          </a:prstGeom>
          <a:ln w="20320">
            <a:solidFill>
              <a:srgbClr val="2D6CDF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188719" y="32918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2D6CDF"/>
                </a:solidFill>
                <a:latin typeface="Calibri"/>
              </a:rPr>
              <a:t>mint()</a:t>
            </a:r>
          </a:p>
        </p:txBody>
      </p:sp>
      <p:sp>
        <p:nvSpPr>
          <p:cNvPr id="14" name="Diamond 13"/>
          <p:cNvSpPr/>
          <p:nvPr/>
        </p:nvSpPr>
        <p:spPr>
          <a:xfrm>
            <a:off x="5989320" y="3246120"/>
            <a:ext cx="822960" cy="822960"/>
          </a:xfrm>
          <a:prstGeom prst="diamond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23559" y="411480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C8922B"/>
                </a:solidFill>
                <a:latin typeface="Calibri"/>
              </a:rPr>
              <a:t>barrier?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434840" y="3602736"/>
            <a:ext cx="1554480" cy="54864"/>
          </a:xfrm>
          <a:prstGeom prst="bentConnector3">
            <a:avLst/>
          </a:prstGeom>
          <a:ln w="20320">
            <a:solidFill>
              <a:srgbClr val="0F1A2B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840479" y="33192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0F1A2B"/>
                </a:solidFill>
                <a:latin typeface="Calibri"/>
              </a:rPr>
              <a:t>maturity / autocall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0" y="2514600"/>
            <a:ext cx="1828800" cy="6217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19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0" y="2569464"/>
            <a:ext cx="18288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Redeemed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0" y="4206240"/>
            <a:ext cx="1828800" cy="6217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19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0" y="4261103"/>
            <a:ext cx="18288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Settled (physical)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6812280" y="2880360"/>
            <a:ext cx="502920" cy="640080"/>
          </a:xfrm>
          <a:prstGeom prst="bentConnector3">
            <a:avLst/>
          </a:prstGeom>
          <a:ln w="20320">
            <a:solidFill>
              <a:srgbClr val="119DA4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692140" y="288950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19DA4"/>
                </a:solidFill>
                <a:latin typeface="Calibri"/>
              </a:rPr>
              <a:t>OK → burn + par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12280" y="3794760"/>
            <a:ext cx="502920" cy="640080"/>
          </a:xfrm>
          <a:prstGeom prst="bentConnector3">
            <a:avLst/>
          </a:prstGeom>
          <a:ln w="20320">
            <a:solidFill>
              <a:srgbClr val="C8922B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692140" y="380390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C8922B"/>
                </a:solidFill>
                <a:latin typeface="Calibri"/>
              </a:rPr>
              <a:t>breached → deliver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58400" y="2514600"/>
            <a:ext cx="1554480" cy="6217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A67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0" y="2569464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End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058400" y="4206240"/>
            <a:ext cx="1554480" cy="6217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A67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0" y="4261103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End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144000" y="2825496"/>
            <a:ext cx="914400" cy="0"/>
          </a:xfrm>
          <a:prstGeom prst="bentConnector3">
            <a:avLst/>
          </a:prstGeom>
          <a:ln w="20320">
            <a:solidFill>
              <a:srgbClr val="5A6778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144000" y="4517136"/>
            <a:ext cx="914400" cy="0"/>
          </a:xfrm>
          <a:prstGeom prst="bentConnector3">
            <a:avLst/>
          </a:prstGeom>
          <a:ln w="20320">
            <a:solidFill>
              <a:srgbClr val="5A6778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2880360" y="5212080"/>
            <a:ext cx="1554480" cy="621792"/>
          </a:xfrm>
          <a:prstGeom prst="roundRect">
            <a:avLst/>
          </a:prstGeom>
          <a:solidFill>
            <a:srgbClr val="EBF6F6"/>
          </a:solidFill>
          <a:ln w="19050">
            <a:solidFill>
              <a:srgbClr val="119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80360" y="5266944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CouponRecord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657600" y="3913632"/>
            <a:ext cx="0" cy="1298448"/>
          </a:xfrm>
          <a:prstGeom prst="bentConnector3">
            <a:avLst/>
          </a:prstGeom>
          <a:ln w="20320">
            <a:solidFill>
              <a:srgbClr val="119DA4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2286000" y="425196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19DA4"/>
                </a:solidFill>
                <a:latin typeface="Calibri"/>
              </a:rPr>
              <a:t>snapshot() @ record date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2377440" y="5394960"/>
            <a:ext cx="502920" cy="0"/>
          </a:xfrm>
          <a:prstGeom prst="bentConnector3">
            <a:avLst/>
          </a:prstGeom>
          <a:ln w="20320">
            <a:solidFill>
              <a:srgbClr val="119DA4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377440" y="3703320"/>
            <a:ext cx="0" cy="1691640"/>
          </a:xfrm>
          <a:prstGeom prst="bentConnector3">
            <a:avLst/>
          </a:prstGeom>
          <a:ln w="20320">
            <a:prstDash val="dash"/>
            <a:solidFill>
              <a:srgbClr val="119DA4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005840" y="423824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19DA4"/>
                </a:solidFill>
                <a:latin typeface="Calibri"/>
              </a:rPr>
              <a:t>coupon paid on fiat rail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880360" y="1691640"/>
            <a:ext cx="1554480" cy="621792"/>
          </a:xfrm>
          <a:prstGeom prst="roundRect">
            <a:avLst/>
          </a:prstGeom>
          <a:solidFill>
            <a:srgbClr val="FBEEEE"/>
          </a:solidFill>
          <a:ln w="19050">
            <a:solidFill>
              <a:srgbClr val="C0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880360" y="1746504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Frozen</a:t>
            </a:r>
          </a:p>
        </p:txBody>
      </p:sp>
      <p:cxnSp>
        <p:nvCxnSpPr>
          <p:cNvPr id="41" name="Connector 40"/>
          <p:cNvCxnSpPr/>
          <p:nvPr/>
        </p:nvCxnSpPr>
        <p:spPr>
          <a:xfrm flipV="1">
            <a:off x="3657600" y="2313432"/>
            <a:ext cx="0" cy="978408"/>
          </a:xfrm>
          <a:prstGeom prst="bentConnector3">
            <a:avLst/>
          </a:prstGeom>
          <a:ln w="20320">
            <a:solidFill>
              <a:srgbClr val="C03A3A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2286000" y="24917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C03A3A"/>
                </a:solidFill>
                <a:latin typeface="Calibri"/>
              </a:rPr>
              <a:t>freeze(holder)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" y="6172200"/>
            <a:ext cx="10543032" cy="457200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0120" y="6236208"/>
            <a:ext cx="102412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F1A2B"/>
                </a:solidFill>
                <a:latin typeface="Calibri"/>
              </a:rPr>
              <a:t>Three ways out of Active: </a:t>
            </a:r>
            <a:r>
              <a:rPr sz="1150" b="0">
                <a:solidFill>
                  <a:srgbClr val="5A6778"/>
                </a:solidFill>
                <a:latin typeface="Calibri"/>
              </a:rPr>
              <a:t>recurring coupon cycle · involuntary Frozen hold (sanctions/court) · terminal Exit where the barrier routes to cash vs physical.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WHERE CROSS-BORDER BITES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Multi-jurisdiction compliance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08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1828800"/>
            <a:ext cx="1737360" cy="672084"/>
          </a:xfrm>
          <a:prstGeom prst="rect">
            <a:avLst/>
          </a:prstGeom>
          <a:solidFill>
            <a:srgbClr val="0F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0" y="1828800"/>
            <a:ext cx="1761134" cy="672084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60320" y="1956816"/>
            <a:ext cx="176113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🇨🇭 Switzerland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1454" y="1828800"/>
            <a:ext cx="1761134" cy="672084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21454" y="1956816"/>
            <a:ext cx="176113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🇪🇺 EU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2588" y="1828800"/>
            <a:ext cx="1761134" cy="672084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2588" y="1956816"/>
            <a:ext cx="176113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🇬🇧 UK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43723" y="1828800"/>
            <a:ext cx="1761134" cy="672084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43723" y="1956816"/>
            <a:ext cx="176113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🇸🇬 Singapore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04857" y="1828800"/>
            <a:ext cx="1761134" cy="672084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4857" y="1956816"/>
            <a:ext cx="176113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🇺🇸 US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2500884"/>
            <a:ext cx="1737360" cy="672084"/>
          </a:xfrm>
          <a:prstGeom prst="rect">
            <a:avLst/>
          </a:prstGeom>
          <a:solidFill>
            <a:srgbClr val="23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2592324"/>
            <a:ext cx="1554480" cy="489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Instant rail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60320" y="2500884"/>
            <a:ext cx="1761134" cy="6720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15184" y="2574036"/>
            <a:ext cx="1651406" cy="525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SIC / SEPA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1454" y="2500884"/>
            <a:ext cx="1761134" cy="6720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76318" y="2574036"/>
            <a:ext cx="1651406" cy="525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SEPA Inst · TIPS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82588" y="2500884"/>
            <a:ext cx="1761134" cy="6720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37452" y="2574036"/>
            <a:ext cx="1651406" cy="525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Faster Payments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43723" y="2500884"/>
            <a:ext cx="1761134" cy="6720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98587" y="2574036"/>
            <a:ext cx="1651406" cy="525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FAST · PayNow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04857" y="2500884"/>
            <a:ext cx="1761134" cy="6720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59721" y="2574036"/>
            <a:ext cx="1651406" cy="525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FedNow · RTP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172968"/>
            <a:ext cx="1737360" cy="672084"/>
          </a:xfrm>
          <a:prstGeom prst="rect">
            <a:avLst/>
          </a:prstGeom>
          <a:solidFill>
            <a:srgbClr val="23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3264408"/>
            <a:ext cx="1554480" cy="489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Legal basis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60320" y="3172968"/>
            <a:ext cx="1761134" cy="672084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15184" y="3246120"/>
            <a:ext cx="1651406" cy="525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DLT Act (CO 973d)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21454" y="3172968"/>
            <a:ext cx="1761134" cy="672084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76318" y="3246120"/>
            <a:ext cx="1651406" cy="525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MiCA + MiFID II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82588" y="3172968"/>
            <a:ext cx="1761134" cy="672084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37452" y="3246120"/>
            <a:ext cx="1651406" cy="525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FSMA · DSS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843723" y="3172968"/>
            <a:ext cx="1761134" cy="672084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98587" y="3246120"/>
            <a:ext cx="1651406" cy="525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SFA · PS Act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604857" y="3172968"/>
            <a:ext cx="1761134" cy="672084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59721" y="3246120"/>
            <a:ext cx="1651406" cy="525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Securities Act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2960" y="3845052"/>
            <a:ext cx="1737360" cy="672084"/>
          </a:xfrm>
          <a:prstGeom prst="rect">
            <a:avLst/>
          </a:prstGeom>
          <a:solidFill>
            <a:srgbClr val="23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3936491"/>
            <a:ext cx="1554480" cy="489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Disclosure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560320" y="3845052"/>
            <a:ext cx="1761134" cy="6720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615184" y="3918204"/>
            <a:ext cx="1651406" cy="525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FIDLEG KID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321454" y="3845052"/>
            <a:ext cx="1761134" cy="6720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76318" y="3918204"/>
            <a:ext cx="1651406" cy="525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PRIIPs + Prospectus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082588" y="3845052"/>
            <a:ext cx="1761134" cy="6720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37452" y="3918204"/>
            <a:ext cx="1651406" cy="525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UK PRIIPs · Duty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843723" y="3845052"/>
            <a:ext cx="1761134" cy="6720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898587" y="3918204"/>
            <a:ext cx="1651406" cy="525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Product sheet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604857" y="3845052"/>
            <a:ext cx="1761134" cy="6720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59721" y="3918204"/>
            <a:ext cx="1651406" cy="525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Reg S / 144A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22960" y="4517136"/>
            <a:ext cx="1737360" cy="672084"/>
          </a:xfrm>
          <a:prstGeom prst="rect">
            <a:avLst/>
          </a:prstGeom>
          <a:solidFill>
            <a:srgbClr val="23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14400" y="4608576"/>
            <a:ext cx="1554480" cy="489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Investor gate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560320" y="4517136"/>
            <a:ext cx="1761134" cy="672084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615184" y="4590288"/>
            <a:ext cx="1651406" cy="525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Qualified/retail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321454" y="4517136"/>
            <a:ext cx="1761134" cy="672084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376318" y="4590288"/>
            <a:ext cx="1651406" cy="525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MiFID categories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082588" y="4517136"/>
            <a:ext cx="1761134" cy="672084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37452" y="4590288"/>
            <a:ext cx="1651406" cy="525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FCA categorisation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843723" y="4517136"/>
            <a:ext cx="1761134" cy="672084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898587" y="4590288"/>
            <a:ext cx="1651406" cy="525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Accredited/instl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604857" y="4517136"/>
            <a:ext cx="1761134" cy="672084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659721" y="4590288"/>
            <a:ext cx="1651406" cy="525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Accredited/QIB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22960" y="5189220"/>
            <a:ext cx="1737360" cy="672084"/>
          </a:xfrm>
          <a:prstGeom prst="rect">
            <a:avLst/>
          </a:prstGeom>
          <a:solidFill>
            <a:srgbClr val="23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14400" y="5280660"/>
            <a:ext cx="1554480" cy="489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AML / Travel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560320" y="5189220"/>
            <a:ext cx="1761134" cy="6720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615184" y="5262372"/>
            <a:ext cx="1651406" cy="525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AMLA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321454" y="5189220"/>
            <a:ext cx="1761134" cy="6720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376318" y="5262372"/>
            <a:ext cx="1651406" cy="525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AMLD · TFR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082588" y="5189220"/>
            <a:ext cx="1761134" cy="6720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137452" y="5262372"/>
            <a:ext cx="1651406" cy="525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MLR 2017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843723" y="5189220"/>
            <a:ext cx="1761134" cy="6720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898587" y="5262372"/>
            <a:ext cx="1651406" cy="525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MAS Notice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604857" y="5189220"/>
            <a:ext cx="1761134" cy="6720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59721" y="5262372"/>
            <a:ext cx="1651406" cy="525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BSA / FinCEN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2960" y="5971032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C8922B"/>
                </a:solidFill>
                <a:latin typeface="Calibri"/>
              </a:rPr>
              <a:t>Enforced in the RuleEngine, not the UI: </a:t>
            </a:r>
            <a:r>
              <a:rPr sz="1250" b="0">
                <a:solidFill>
                  <a:srgbClr val="0F1A2B"/>
                </a:solidFill>
                <a:latin typeface="Calibri"/>
              </a:rPr>
              <a:t>wallet jurisdiction is checked on every transfer · Travel-Rule payloads off-chain (IVMS-101) · PII hashes only.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148085908000" cy="6270955200000"/>
          </a:xfrm>
          <a:prstGeom prst="rect">
            <a:avLst/>
          </a:prstGeom>
          <a:solidFill>
            <a:srgbClr val="0F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21208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029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IMPLEMENTATION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2296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Two thin layers — token + orchestrator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517904"/>
            <a:ext cx="10543032" cy="18288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120640" cy="4297680"/>
          </a:xfrm>
          <a:prstGeom prst="roundRect">
            <a:avLst/>
          </a:prstGeom>
          <a:solidFill>
            <a:srgbClr val="0A121F"/>
          </a:solidFill>
          <a:ln w="12700">
            <a:solidFill>
              <a:srgbClr val="14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 Same Side Corner Rectangle 8"/>
          <p:cNvSpPr/>
          <p:nvPr/>
        </p:nvSpPr>
        <p:spPr>
          <a:xfrm>
            <a:off x="822960" y="1828800"/>
            <a:ext cx="5120640" cy="402336"/>
          </a:xfrm>
          <a:prstGeom prst="round2Same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83664"/>
            <a:ext cx="4754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RCNToken.sol  (extends CMTAT)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377440"/>
            <a:ext cx="480974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050">
                <a:solidFill>
                  <a:srgbClr val="5F8AC0"/>
                </a:solidFill>
                <a:latin typeface="Consolas"/>
              </a:rPr>
              <a:t>// thin: lifecycle DRIVEN by FireFly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C8922B"/>
                </a:solidFill>
                <a:latin typeface="Consolas"/>
              </a:rPr>
              <a:t>function mintOnSettlement(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  bytes32 subId, address to, uint256 u)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onlyRole(ISSUER_ROLE) {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5F8AC0"/>
                </a:solidFill>
                <a:latin typeface="Consolas"/>
              </a:rPr>
              <a:t>  // RuleEngine must pass: eligible+juris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_mint(to, u);  emit Minted(subId,to,u);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}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C8922B"/>
                </a:solidFill>
                <a:latin typeface="Consolas"/>
              </a:rPr>
              <a:t>function observeBarrier(uint256 lvlBps)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onlyRole(ORACLE_ROLE) { 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if (lvlBps &lt; barrierBps) breached=true; }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C8922B"/>
                </a:solidFill>
                <a:latin typeface="Consolas"/>
              </a:rPr>
              <a:t>function settle(address h, uint256 u)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onlyRole(SETTLEMENT_ROLE) {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bool physical = breached; _burn(h,u); 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1828800"/>
            <a:ext cx="5120640" cy="4297680"/>
          </a:xfrm>
          <a:prstGeom prst="roundRect">
            <a:avLst/>
          </a:prstGeom>
          <a:solidFill>
            <a:srgbClr val="0A121F"/>
          </a:solidFill>
          <a:ln w="12700">
            <a:solidFill>
              <a:srgbClr val="14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 Same Side Corner Rectangle 12"/>
          <p:cNvSpPr/>
          <p:nvPr/>
        </p:nvSpPr>
        <p:spPr>
          <a:xfrm>
            <a:off x="6245352" y="1828800"/>
            <a:ext cx="5120640" cy="402336"/>
          </a:xfrm>
          <a:prstGeom prst="round2Same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883664"/>
            <a:ext cx="4754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orchestrator.ts  (FireFly SDK)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9944" y="2377440"/>
            <a:ext cx="480974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050">
                <a:solidFill>
                  <a:srgbClr val="5F8AC0"/>
                </a:solidFill>
                <a:latin typeface="Consolas"/>
              </a:rPr>
              <a:t>// idempotent on subscriptionId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C8922B"/>
                </a:solidFill>
                <a:latin typeface="Consolas"/>
              </a:rPr>
              <a:t>async function onPaymentFinality(e){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if (await alreadyMinted(e.subId))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5F8AC0"/>
                </a:solidFill>
                <a:latin typeface="Consolas"/>
              </a:rPr>
              <a:t>      return;              // dedupe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const ok = await compliance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    .check(e.wallet, e.subId);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if (!ok) return refundEscrow(e.subId);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await firefly.mintTokens(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  { pool: POOL, to: e.wallet,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    amount: e.units },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5F8AC0"/>
                </a:solidFill>
                <a:latin typeface="Consolas"/>
              </a:rPr>
              <a:t>    { requestId: e.subId,      // idem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5F8AC0"/>
                </a:solidFill>
                <a:latin typeface="Consolas"/>
              </a:rPr>
              <a:t>      confirm: true });   // wait final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FAILURE-FIRST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Reliability &amp; threat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12064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93392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D6CDF"/>
                </a:solidFill>
                <a:latin typeface="Calibri"/>
              </a:rPr>
              <a:t>Failure handling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560320"/>
            <a:ext cx="466344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D6CDF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Payment event lost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durable FireFly stream + re-drive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D6CDF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Duplicate event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idempotency key, exactly-once mint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D6CDF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Cash settled, mint reverts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auto-refund escrow, no partial state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D6CDF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Chain reorg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confirm:true, only finalized receipts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D6CDF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Oracle dispute at barrier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signed feed + Pause if systemic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828800"/>
            <a:ext cx="5239512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9933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C03A3A"/>
                </a:solidFill>
                <a:latin typeface="Calibri"/>
              </a:rPr>
              <a:t>Threats → controls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560320"/>
            <a:ext cx="475488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C03A3A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ISSUER_ROLE key compromise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HSM/MPC, multisig, per-op limits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C03A3A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Oracle manipulation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multi-source signed feed, dispute window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C03A3A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Payment replay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end-to-end idempotency key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C03A3A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Eligibility bypass on resale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RuleEngine gates every transfer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C03A3A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PII on-chain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hashes only, private data exchange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C03A3A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Reg S → US-person leakage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jurisdiction attr enforced on transfer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Invariant: </a:t>
            </a:r>
            <a:r>
              <a:rPr sz="1300" b="0">
                <a:solidFill>
                  <a:srgbClr val="0F1A2B"/>
                </a:solidFill>
                <a:latin typeface="Calibri"/>
              </a:rPr>
              <a:t>the reconciliation store — not the chain, not core banking alone — is the correlated source of truth. Both legs reconcile to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FROM ZERO TO ISSUANCE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Pragmatic build sequence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74519"/>
            <a:ext cx="52578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50976" y="2048255"/>
            <a:ext cx="566928" cy="566928"/>
          </a:xfrm>
          <a:prstGeom prst="ellipse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048255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00253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F1A2B"/>
                </a:solidFill>
                <a:latin typeface="Calibri"/>
              </a:rPr>
              <a:t>Stand up FireFly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331720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blockchain + token connector + event streams; prove mint/transfer/burn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26079"/>
            <a:ext cx="52578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50976" y="3099815"/>
            <a:ext cx="566928" cy="566928"/>
          </a:xfrm>
          <a:prstGeom prst="ellipse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" y="3099815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305409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F1A2B"/>
                </a:solidFill>
                <a:latin typeface="Calibri"/>
              </a:rPr>
              <a:t>Deploy CMTAT base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3383279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permissioned EVM; wire RuleEngine with a stub eligibility rule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977639"/>
            <a:ext cx="52578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50976" y="4151376"/>
            <a:ext cx="566928" cy="566928"/>
          </a:xfrm>
          <a:prstGeom prst="ellipse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5137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05655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F1A2B"/>
                </a:solidFill>
                <a:latin typeface="Calibri"/>
              </a:rPr>
              <a:t>Recon + ISO 20022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4434840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idempotency store + pacs.002 finality on ONE rail (SEPA Inst sandbox)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5029200"/>
            <a:ext cx="52578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50976" y="5202936"/>
            <a:ext cx="566928" cy="566928"/>
          </a:xfrm>
          <a:prstGeom prst="ellipse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976" y="520293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515721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F1A2B"/>
                </a:solidFill>
                <a:latin typeface="Calibri"/>
              </a:rPr>
              <a:t>Escrow mint-on-finality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91640" y="5486400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prove exactly-once + auto-refund reversal paths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1874519"/>
            <a:ext cx="52578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37376" y="2048255"/>
            <a:ext cx="566928" cy="566928"/>
          </a:xfrm>
          <a:prstGeom prst="ellipse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37376" y="2048255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200253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F1A2B"/>
                </a:solidFill>
                <a:latin typeface="Calibri"/>
              </a:rPr>
              <a:t>Lifecycle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8040" y="2331720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snapshot→coupon, barrier oracle, maturity settle (cash &amp; physical)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09360" y="2926079"/>
            <a:ext cx="52578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37376" y="3099815"/>
            <a:ext cx="566928" cy="566928"/>
          </a:xfrm>
          <a:prstGeom prst="ellipse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37376" y="3099815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8040" y="305409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F1A2B"/>
                </a:solidFill>
                <a:latin typeface="Calibri"/>
              </a:rPr>
              <a:t>Compliance layer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78040" y="3383279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KYC/AML, Travel Rule payloads, jurisdiction gating; PII off-chain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09360" y="3977639"/>
            <a:ext cx="52578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437376" y="4151376"/>
            <a:ext cx="566928" cy="566928"/>
          </a:xfrm>
          <a:prstGeom prst="ellipse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37376" y="415137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78040" y="4105655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F1A2B"/>
                </a:solidFill>
                <a:latin typeface="Calibri"/>
              </a:rPr>
              <a:t>Second jurisdiction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78040" y="4434840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generalize matrix into RuleEngine config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09360" y="5029200"/>
            <a:ext cx="52578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437376" y="5202936"/>
            <a:ext cx="566928" cy="566928"/>
          </a:xfrm>
          <a:prstGeom prst="ellipse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37376" y="520293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78040" y="515721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F1A2B"/>
                </a:solidFill>
                <a:latin typeface="Calibri"/>
              </a:rPr>
              <a:t>Audit + legal opinion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78040" y="5486400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Solidity + orchestration audit, per-jurisdiction opinion before live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778"/>
                </a:solidFill>
                <a:latin typeface="Calibri"/>
              </a:rPr>
              <a:t>No warranty. Validate every control with licensed counsel and your regulators before production issuance.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COUPON &amp; REDEMPTION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Reverse leg — on-chain event → fiat-out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" y="1645920"/>
            <a:ext cx="1554480" cy="457200"/>
          </a:xfrm>
          <a:prstGeom prst="round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1673352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CMTAT
Token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0353" y="2148840"/>
            <a:ext cx="10972" cy="3703320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258568" y="1645920"/>
            <a:ext cx="1554480" cy="457200"/>
          </a:xfrm>
          <a:prstGeom prst="round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8568" y="1673352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FireFly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30321" y="2148840"/>
            <a:ext cx="10972" cy="3703320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288536" y="1645920"/>
            <a:ext cx="1554480" cy="457200"/>
          </a:xfrm>
          <a:prstGeom prst="round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88536" y="1673352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Recon /
Idemp.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60289" y="2148840"/>
            <a:ext cx="10972" cy="3703320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18504" y="1645920"/>
            <a:ext cx="1554480" cy="457200"/>
          </a:xfrm>
          <a:prstGeom prst="round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18504" y="1673352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Payout
Engine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90257" y="2148840"/>
            <a:ext cx="10972" cy="3703320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348471" y="1645920"/>
            <a:ext cx="1554480" cy="457200"/>
          </a:xfrm>
          <a:prstGeom prst="round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48471" y="1673352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Settlement
Bank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20225" y="2148840"/>
            <a:ext cx="10972" cy="3703320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78439" y="1645920"/>
            <a:ext cx="1554480" cy="457200"/>
          </a:xfrm>
          <a:prstGeom prst="round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78439" y="1673352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Client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150193" y="2148840"/>
            <a:ext cx="10972" cy="3703320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8600" y="239572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A6778"/>
                </a:solidFill>
                <a:latin typeface="Calibri"/>
              </a:rPr>
              <a:t>coupon date / maturity / autocall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005840" y="2697480"/>
            <a:ext cx="2029968" cy="0"/>
          </a:xfrm>
          <a:prstGeom prst="bentConnector3">
            <a:avLst/>
          </a:prstGeom>
          <a:ln w="17780">
            <a:prstDash val="dash"/>
            <a:solidFill>
              <a:srgbClr val="119DA4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57783" y="240487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19DA4"/>
                </a:solidFill>
                <a:latin typeface="Calibri"/>
              </a:rPr>
              <a:t>event: Snapshot / Redeemed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035808" y="3108960"/>
            <a:ext cx="2029967" cy="0"/>
          </a:xfrm>
          <a:prstGeom prst="bentConnector3">
            <a:avLst/>
          </a:prstGeom>
          <a:ln w="17780">
            <a:solidFill>
              <a:srgbClr val="0F1A2B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2587751" y="281635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0F1A2B"/>
                </a:solidFill>
                <a:latin typeface="Calibri"/>
              </a:rPr>
              <a:t>deliver(eventId, holders)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333756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5A6778"/>
                </a:solidFill>
                <a:latin typeface="Calibri"/>
              </a:rPr>
              <a:t>idempotency: eventId unpaid?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065775" y="3794760"/>
            <a:ext cx="2029969" cy="0"/>
          </a:xfrm>
          <a:prstGeom prst="bentConnector3">
            <a:avLst/>
          </a:prstGeom>
          <a:ln w="17780">
            <a:solidFill>
              <a:srgbClr val="2D6CDF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617719" y="350215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D6CDF"/>
                </a:solidFill>
                <a:latin typeface="Calibri"/>
              </a:rPr>
              <a:t>computeCoupon / par per holder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095744" y="4206240"/>
            <a:ext cx="2029967" cy="0"/>
          </a:xfrm>
          <a:prstGeom prst="bentConnector3">
            <a:avLst/>
          </a:prstGeom>
          <a:ln w="17780">
            <a:solidFill>
              <a:srgbClr val="2D6CDF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647688" y="3913631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D6CDF"/>
                </a:solidFill>
                <a:latin typeface="Calibri"/>
              </a:rPr>
              <a:t>pacs.008 instant credit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125711" y="4617720"/>
            <a:ext cx="2029968" cy="0"/>
          </a:xfrm>
          <a:prstGeom prst="bentConnector3">
            <a:avLst/>
          </a:prstGeom>
          <a:ln w="17780">
            <a:solidFill>
              <a:srgbClr val="C8922B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677655" y="432511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8922B"/>
                </a:solidFill>
                <a:latin typeface="Calibri"/>
              </a:rPr>
              <a:t>coupon / redemption par received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065775" y="5029200"/>
            <a:ext cx="4059936" cy="0"/>
          </a:xfrm>
          <a:prstGeom prst="bentConnector3">
            <a:avLst/>
          </a:prstGeom>
          <a:ln w="17780">
            <a:prstDash val="dash"/>
            <a:solidFill>
              <a:srgbClr val="119DA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632703" y="473659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19DA4"/>
                </a:solidFill>
                <a:latin typeface="Calibri"/>
              </a:rPr>
              <a:t>pacs.002 payout finality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88536" y="513892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5A6778"/>
                </a:solidFill>
                <a:latin typeface="Calibri"/>
              </a:rPr>
              <a:t>mark eventId settled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60" y="6053328"/>
            <a:ext cx="10543032" cy="566928"/>
          </a:xfrm>
          <a:prstGeom prst="roundRect">
            <a:avLst/>
          </a:prstGeom>
          <a:solidFill>
            <a:srgbClr val="EBF6F6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5840" y="6126480"/>
            <a:ext cx="10241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142A4A"/>
                </a:solidFill>
                <a:latin typeface="Calibri"/>
              </a:rPr>
              <a:t>Burn precedes payout (never reverse). Coupon uses the snapshot holder set, not live balance.</a:t>
            </a:r>
          </a:p>
          <a:p>
            <a:pPr algn="l">
              <a:lnSpc>
                <a:spcPct val="105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Physical settlement: burn on-chain + off-chain custodian delivery — no value ever moves on-chain.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SYNC + DIVERGENCE ALARM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Variant-B reconciler — chain ↔ transfer-agent book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965960"/>
            <a:ext cx="2743200" cy="914400"/>
          </a:xfrm>
          <a:prstGeom prst="roundRect">
            <a:avLst/>
          </a:prstGeom>
          <a:solidFill>
            <a:srgbClr val="EBF6F6"/>
          </a:solidFill>
          <a:ln w="17780">
            <a:solidFill>
              <a:srgbClr val="119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84831"/>
            <a:ext cx="2468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F1A2B"/>
                </a:solidFill>
                <a:latin typeface="Calibri"/>
              </a:rPr>
              <a:t>Chain holders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778"/>
                </a:solidFill>
                <a:latin typeface="Calibri"/>
              </a:rPr>
              <a:t>CMTAT balances @ finalized block</a:t>
            </a:r>
          </a:p>
          <a:p>
            <a:pPr algn="l">
              <a:lnSpc>
                <a:spcPct val="100000"/>
              </a:lnSpc>
            </a:pPr>
            <a:r>
              <a:rPr sz="1000" b="1">
                <a:solidFill>
                  <a:srgbClr val="119DA4"/>
                </a:solidFill>
                <a:latin typeface="Calibri"/>
              </a:rPr>
              <a:t>operational truth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154680"/>
            <a:ext cx="2743200" cy="914400"/>
          </a:xfrm>
          <a:prstGeom prst="roundRect">
            <a:avLst/>
          </a:prstGeom>
          <a:solidFill>
            <a:srgbClr val="F1ECF8"/>
          </a:solidFill>
          <a:ln w="17780">
            <a:solidFill>
              <a:srgbClr val="7A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73552"/>
            <a:ext cx="2468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F1A2B"/>
                </a:solidFill>
                <a:latin typeface="Calibri"/>
              </a:rPr>
              <a:t>TA book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778"/>
                </a:solidFill>
                <a:latin typeface="Calibri"/>
              </a:rPr>
              <a:t>transfer-agent register</a:t>
            </a:r>
          </a:p>
          <a:p>
            <a:pPr algn="l">
              <a:lnSpc>
                <a:spcPct val="100000"/>
              </a:lnSpc>
            </a:pPr>
            <a:r>
              <a:rPr sz="1000" b="1">
                <a:solidFill>
                  <a:srgbClr val="7A4FA8"/>
                </a:solidFill>
                <a:latin typeface="Calibri"/>
              </a:rPr>
              <a:t>LEGAL truth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0520" y="2423160"/>
            <a:ext cx="2468880" cy="123444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0" y="2542032"/>
            <a:ext cx="23774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Reconciler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BFD2F0"/>
                </a:solidFill>
                <a:latin typeface="Calibri"/>
              </a:rPr>
              <a:t>holder-by-holder equality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BFD2F0"/>
                </a:solidFill>
                <a:latin typeface="Calibri"/>
              </a:rPr>
              <a:t>+ supply invariant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566160" y="2423160"/>
            <a:ext cx="594360" cy="365760"/>
          </a:xfrm>
          <a:prstGeom prst="bentConnector3">
            <a:avLst/>
          </a:prstGeom>
          <a:ln w="20320">
            <a:solidFill>
              <a:srgbClr val="119DA4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3566160" y="3246120"/>
            <a:ext cx="594360" cy="365760"/>
          </a:xfrm>
          <a:prstGeom prst="bentConnector3">
            <a:avLst/>
          </a:prstGeom>
          <a:ln w="20320">
            <a:solidFill>
              <a:srgbClr val="7A4FA8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223760" y="2011680"/>
            <a:ext cx="4114800" cy="822960"/>
          </a:xfrm>
          <a:prstGeom prst="roundRect">
            <a:avLst/>
          </a:prstGeom>
          <a:solidFill>
            <a:srgbClr val="ECF7EF"/>
          </a:solidFill>
          <a:ln w="1778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2121408"/>
            <a:ext cx="38404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E8B57"/>
                </a:solidFill>
                <a:latin typeface="Calibri"/>
              </a:rPr>
              <a:t>● IN_SYNC</a:t>
            </a:r>
            <a:r>
              <a:rPr sz="1150" b="0">
                <a:solidFill>
                  <a:srgbClr val="0F1A2B"/>
                </a:solidFill>
                <a:latin typeface="Calibri"/>
              </a:rPr>
              <a:t>  → record clean, allow payouts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60" y="2971800"/>
            <a:ext cx="4114800" cy="1188720"/>
          </a:xfrm>
          <a:prstGeom prst="roundRect">
            <a:avLst/>
          </a:prstGeom>
          <a:solidFill>
            <a:srgbClr val="FBEEEE"/>
          </a:solidFill>
          <a:ln w="17780">
            <a:solidFill>
              <a:srgbClr val="C0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60920" y="3072384"/>
            <a:ext cx="384048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00" b="1">
                <a:solidFill>
                  <a:srgbClr val="C03A3A"/>
                </a:solidFill>
                <a:latin typeface="Calibri"/>
              </a:rPr>
              <a:t>● DIVERGENT</a:t>
            </a:r>
          </a:p>
          <a:p>
            <a:pPr algn="l">
              <a:lnSpc>
                <a:spcPct val="102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CMTAT pause() → alarm ops → block payouts.</a:t>
            </a:r>
          </a:p>
          <a:p>
            <a:pPr algn="l">
              <a:lnSpc>
                <a:spcPct val="102000"/>
              </a:lnSpc>
            </a:pPr>
            <a:r>
              <a:rPr sz="1050" b="0">
                <a:solidFill>
                  <a:srgbClr val="5A6778"/>
                </a:solidFill>
                <a:latin typeface="Calibri"/>
              </a:rPr>
              <a:t>Never auto-fix: TA book wins per governance;</a:t>
            </a:r>
          </a:p>
          <a:p>
            <a:pPr algn="l">
              <a:lnSpc>
                <a:spcPct val="102000"/>
              </a:lnSpc>
            </a:pPr>
            <a:r>
              <a:rPr sz="1050" b="0">
                <a:solidFill>
                  <a:srgbClr val="5A6778"/>
                </a:solidFill>
                <a:latin typeface="Calibri"/>
              </a:rPr>
              <a:t>chain corrected under documented control.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6629400" y="2423160"/>
            <a:ext cx="594360" cy="365760"/>
          </a:xfrm>
          <a:prstGeom prst="bentConnector3">
            <a:avLst/>
          </a:prstGeom>
          <a:ln w="20320">
            <a:solidFill>
              <a:srgbClr val="2E8B57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629400" y="3246120"/>
            <a:ext cx="594360" cy="320040"/>
          </a:xfrm>
          <a:prstGeom prst="bentConnector3">
            <a:avLst/>
          </a:prstGeom>
          <a:ln w="20320">
            <a:solidFill>
              <a:srgbClr val="C03A3A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22960" y="4617720"/>
            <a:ext cx="10543032" cy="1600200"/>
          </a:xfrm>
          <a:prstGeom prst="roundRect">
            <a:avLst/>
          </a:prstGeom>
          <a:solidFill>
            <a:srgbClr val="0A121F"/>
          </a:solidFill>
          <a:ln w="12700">
            <a:solidFill>
              <a:srgbClr val="14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4736592"/>
            <a:ext cx="10149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150">
                <a:solidFill>
                  <a:srgbClr val="D7E1F0"/>
                </a:solidFill>
                <a:latin typeface="Consolas"/>
              </a:rPr>
              <a:t>for (const h of holders)  if (chain[h] !== book[h])  diffs.push({h, chain[h], book[h]});</a:t>
            </a:r>
          </a:p>
          <a:p>
            <a:pPr>
              <a:lnSpc>
                <a:spcPct val="130000"/>
              </a:lnSpc>
            </a:pPr>
            <a:r>
              <a:rPr sz="1150">
                <a:solidFill>
                  <a:srgbClr val="C8922B"/>
                </a:solidFill>
                <a:latin typeface="Consolas"/>
              </a:rPr>
              <a:t>if (chainTotal !== bookTotal || diffs.length)  { firefly.pause(); alarm.critical(diffs); }  // contain, don't fix</a:t>
            </a:r>
          </a:p>
          <a:p>
            <a:pPr>
              <a:lnSpc>
                <a:spcPct val="130000"/>
              </a:lnSpc>
            </a:pPr>
            <a:r>
              <a:rPr sz="1150">
                <a:solidFill>
                  <a:srgbClr val="6BC58E"/>
                </a:solidFill>
                <a:latin typeface="Consolas"/>
              </a:rPr>
              <a:t>anchorReconciliation(block, bookMerkleRoot, inSync);   // tamper-evident proof, book stays off-chain, no PII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9893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9AADC8"/>
                </a:solidFill>
                <a:latin typeface="Calibri"/>
              </a:rPr>
              <a:t>Triggered on every finalized token-event batch + heartbeat → drift caught in minutes, not at month-end.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PICK ONE PER ISSUANCE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Design fork — is the token the register, or just the message?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12064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 Same Side Corner Rectangle 8"/>
          <p:cNvSpPr/>
          <p:nvPr/>
        </p:nvSpPr>
        <p:spPr>
          <a:xfrm>
            <a:off x="822960" y="1828800"/>
            <a:ext cx="5120640" cy="502920"/>
          </a:xfrm>
          <a:prstGeom prst="round2Same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90195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A · Token IS the register</a:t>
            </a:r>
            <a:r>
              <a:rPr sz="1100" b="0">
                <a:solidFill>
                  <a:srgbClr val="BFD2F0"/>
                </a:solidFill>
                <a:latin typeface="Calibri"/>
              </a:rPr>
              <a:t>   (ledger-based security)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514600"/>
            <a:ext cx="466344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D6CDF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Legal title lives on-chain</a:t>
            </a:r>
            <a:r>
              <a:rPr sz="1300" b="0">
                <a:solidFill>
                  <a:srgbClr val="5A6778"/>
                </a:solidFill>
                <a:latin typeface="Calibri"/>
              </a:rPr>
              <a:t> — transfer = change of title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D6CDF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Needs DLT securities law</a:t>
            </a:r>
            <a:r>
              <a:rPr sz="1300" b="0">
                <a:solidFill>
                  <a:srgbClr val="5A6778"/>
                </a:solidFill>
                <a:latin typeface="Calibri"/>
              </a:rPr>
              <a:t> — CH, EU Pilot, DE eWpG, LU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D6CDF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Minimal reconciliation</a:t>
            </a:r>
            <a:r>
              <a:rPr sz="1300" b="0">
                <a:solidFill>
                  <a:srgbClr val="5A6778"/>
                </a:solidFill>
                <a:latin typeface="Calibri"/>
              </a:rPr>
              <a:t> — the chain IS the book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D6CDF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Reach limited</a:t>
            </a:r>
            <a:r>
              <a:rPr sz="1300" b="0">
                <a:solidFill>
                  <a:srgbClr val="5A6778"/>
                </a:solidFill>
                <a:latin typeface="Calibri"/>
              </a:rPr>
              <a:t> to recognising jurisdictions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D6CDF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Best:</a:t>
            </a:r>
            <a:r>
              <a:rPr sz="1300" b="0">
                <a:solidFill>
                  <a:srgbClr val="5A6778"/>
                </a:solidFill>
                <a:latin typeface="Calibri"/>
              </a:rPr>
              <a:t> single friendly jurisdiction, full DLT-native finality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828800"/>
            <a:ext cx="5239512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19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 Same Side Corner Rectangle 12"/>
          <p:cNvSpPr/>
          <p:nvPr/>
        </p:nvSpPr>
        <p:spPr>
          <a:xfrm>
            <a:off x="6126480" y="1828800"/>
            <a:ext cx="5239512" cy="502920"/>
          </a:xfrm>
          <a:prstGeom prst="round2Same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901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B · Token is only the message</a:t>
            </a:r>
            <a:r>
              <a:rPr sz="1100" b="1">
                <a:solidFill>
                  <a:srgbClr val="FFFFFF"/>
                </a:solidFill>
                <a:latin typeface="Calibri"/>
              </a:rPr>
              <a:t>   ✅ default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514600"/>
            <a:ext cx="480060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119DA4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Register stays at transfer agent</a:t>
            </a:r>
            <a:r>
              <a:rPr sz="1300" b="0">
                <a:solidFill>
                  <a:srgbClr val="5A6778"/>
                </a:solidFill>
                <a:latin typeface="Calibri"/>
              </a:rPr>
              <a:t> — TA book = legal truth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119DA4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Needs no DLT securities law</a:t>
            </a:r>
            <a:r>
              <a:rPr sz="1300" b="0">
                <a:solidFill>
                  <a:srgbClr val="5A6778"/>
                </a:solidFill>
                <a:latin typeface="Calibri"/>
              </a:rPr>
              <a:t> — deploy anywhere, US in scope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119DA4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Chain ↔ TA book reconcile</a:t>
            </a:r>
            <a:r>
              <a:rPr sz="1300" b="0">
                <a:solidFill>
                  <a:srgbClr val="5A6778"/>
                </a:solidFill>
                <a:latin typeface="Calibri"/>
              </a:rPr>
              <a:t> — chain = operational truth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119DA4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Broad cross-border reach</a:t>
            </a:r>
            <a:r>
              <a:rPr sz="1300" b="0">
                <a:solidFill>
                  <a:srgbClr val="5A6778"/>
                </a:solidFill>
                <a:latin typeface="Calibri"/>
              </a:rPr>
              <a:t> — conventional security everywhere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119DA4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Best:</a:t>
            </a:r>
            <a:r>
              <a:rPr sz="1300" b="0">
                <a:solidFill>
                  <a:srgbClr val="5A6778"/>
                </a:solidFill>
                <a:latin typeface="Calibri"/>
              </a:rPr>
              <a:t> multi-jurisdiction rollout, minimise legal novelty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Code &amp; FireFly orchestration are identical. </a:t>
            </a:r>
            <a:r>
              <a:rPr sz="1300" b="0">
                <a:solidFill>
                  <a:srgbClr val="0F1A2B"/>
                </a:solidFill>
                <a:latin typeface="Calibri"/>
              </a:rPr>
              <a:t>Only the legal wrapper, reconciliation duty, and the “legal basis” matrix row change. For a cross-border TradFi→TradFi build, B is the natural default; reserve A for a Swiss-law (or EU-Pilot) issuance wanting on-chain title finality.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NO UNILATERAL CALLS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Governance — a specialist committee ranks &amp; signs 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778"/>
                </a:solidFill>
                <a:latin typeface="Calibri"/>
              </a:rPr>
              <a:t>Every ranked decision — coordination model, register-vs-message fork, jurisdiction go/no-go, each RCN — is a committee decision, gated on-chain.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286000"/>
            <a:ext cx="33375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286000"/>
            <a:ext cx="91440" cy="77724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2377440"/>
            <a:ext cx="3063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DLT / contract eng.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778"/>
                </a:solidFill>
                <a:latin typeface="Calibri"/>
              </a:rPr>
              <a:t>contract &amp; key-mgmt model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2286000"/>
            <a:ext cx="33375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61688" y="2286000"/>
            <a:ext cx="91440" cy="77724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62856" y="2377440"/>
            <a:ext cx="3063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FireFly architecture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778"/>
                </a:solidFill>
                <a:latin typeface="Calibri"/>
              </a:rPr>
              <a:t>messaging &amp; reconciliation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0416" y="2286000"/>
            <a:ext cx="33375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00416" y="2286000"/>
            <a:ext cx="91440" cy="777240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01584" y="2377440"/>
            <a:ext cx="3063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Payments &amp; settlement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778"/>
                </a:solidFill>
                <a:latin typeface="Calibri"/>
              </a:rPr>
              <a:t>rail, escrow, §4 model rank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200400"/>
            <a:ext cx="33375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" y="3200400"/>
            <a:ext cx="91440" cy="777240"/>
          </a:xfrm>
          <a:prstGeom prst="rect">
            <a:avLst/>
          </a:prstGeom>
          <a:solidFill>
            <a:srgbClr val="7A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3291840"/>
            <a:ext cx="3063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Securities law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778"/>
                </a:solidFill>
                <a:latin typeface="Calibri"/>
              </a:rPr>
              <a:t>classification, §11 fork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61688" y="3200400"/>
            <a:ext cx="33375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61688" y="3200400"/>
            <a:ext cx="91440" cy="777240"/>
          </a:xfrm>
          <a:prstGeom prst="rect">
            <a:avLst/>
          </a:prstGeom>
          <a:solidFill>
            <a:srgbClr val="7A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2856" y="3291840"/>
            <a:ext cx="3063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AML / compliance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778"/>
                </a:solidFill>
                <a:latin typeface="Calibri"/>
              </a:rPr>
              <a:t>Travel Rule, §6 jurisdictions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00416" y="3200400"/>
            <a:ext cx="33375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00416" y="3200400"/>
            <a:ext cx="91440" cy="777240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01584" y="3291840"/>
            <a:ext cx="3063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Market / credit risk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778"/>
                </a:solidFill>
                <a:latin typeface="Calibri"/>
              </a:rPr>
              <a:t>barrier, issuer &amp; concentration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25196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42A4A"/>
                </a:solidFill>
                <a:latin typeface="Calibri"/>
              </a:rPr>
              <a:t>Quorum: legal + compliance + risk + one technical seat. Internal audit sits non-voting. Rankings minuted; dissents recorded.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4709160"/>
            <a:ext cx="10543032" cy="1508760"/>
          </a:xfrm>
          <a:prstGeom prst="roundRect">
            <a:avLst/>
          </a:prstGeom>
          <a:solidFill>
            <a:srgbClr val="0A121F"/>
          </a:solidFill>
          <a:ln w="12700">
            <a:solidFill>
              <a:srgbClr val="14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1560" y="4828032"/>
            <a:ext cx="10149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C8922B"/>
                </a:solidFill>
                <a:latin typeface="Calibri"/>
              </a:rPr>
              <a:t>Decision → on-chain gate  (approval is a mint precondition, not a PDF)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51560" y="5349240"/>
            <a:ext cx="2468880" cy="64008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5394960"/>
            <a:ext cx="2286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Committee sign-off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65576" y="5413248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C8922B"/>
                </a:solidFill>
                <a:latin typeface="Calibri"/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639312" y="5349240"/>
            <a:ext cx="2468880" cy="64008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730752" y="5394960"/>
            <a:ext cx="2286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recordCommitteeApproval(productId)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53328" y="5413248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C8922B"/>
                </a:solidFill>
                <a:latin typeface="Calibri"/>
              </a:rPr>
              <a:t>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27064" y="5349240"/>
            <a:ext cx="2468880" cy="64008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18504" y="5394960"/>
            <a:ext cx="2286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require(committeeApproved) → mint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41080" y="5413248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C8922B"/>
                </a:solidFill>
                <a:latin typeface="Calibri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814816" y="5349240"/>
            <a:ext cx="2468880" cy="64008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06256" y="5394960"/>
            <a:ext cx="2286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cash released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6053328"/>
            <a:ext cx="10149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AADC8"/>
                </a:solidFill>
                <a:latin typeface="Calibri"/>
              </a:rPr>
              <a:t>No committee sign-off  →  no product record  →  no mint  →  no cash. Authority bound end-to-end.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148085908000" cy="6270955200000"/>
          </a:xfrm>
          <a:prstGeom prst="rect">
            <a:avLst/>
          </a:prstGeom>
          <a:solidFill>
            <a:srgbClr val="0F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28800"/>
            <a:ext cx="82296" cy="1828800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6596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Fiat in. Fiat out. TradFi both ends.</a:t>
            </a:r>
          </a:p>
          <a:p>
            <a:pPr algn="l">
              <a:lnSpc>
                <a:spcPct val="106000"/>
              </a:lnSpc>
            </a:pPr>
            <a:r>
              <a:rPr sz="2900" b="1">
                <a:solidFill>
                  <a:srgbClr val="BFD2F0"/>
                </a:solidFill>
                <a:latin typeface="Calibri"/>
              </a:rPr>
              <a:t>The DLT is the shared message bus —</a:t>
            </a:r>
          </a:p>
          <a:p>
            <a:pPr algn="l">
              <a:lnSpc>
                <a:spcPct val="106000"/>
              </a:lnSpc>
            </a:pPr>
            <a:r>
              <a:rPr sz="2900" b="1">
                <a:solidFill>
                  <a:srgbClr val="BFD2F0"/>
                </a:solidFill>
                <a:latin typeface="Calibri"/>
              </a:rPr>
              <a:t>correlation, not value transfer, is the architecture.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FFFFFF"/>
                </a:solidFill>
                <a:latin typeface="Calibri"/>
              </a:rPr>
              <a:t>• Recon store = source of truth   • Idempotency = exactly-once mint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FFFFFF"/>
                </a:solidFill>
                <a:latin typeface="Calibri"/>
              </a:rPr>
              <a:t>• RuleEngine gates every transfer   • PII off-chain, hashes on   • Escrow + auto-reversal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943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AADC8"/>
                </a:solidFill>
                <a:latin typeface="Calibri"/>
              </a:rPr>
              <a:t>Full write-up, diagrams &amp; code skeletons in the companion repo &amp; gist.  Not legal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