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1148085908000" cy="54864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82296" cy="1097280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8922B"/>
                </a:solidFill>
                <a:latin typeface="Calibri"/>
              </a:rPr>
              <a:t>REFERENCE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241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Instant-Payment Front-to-Back</a:t>
            </a:r>
          </a:p>
          <a:p>
            <a:pPr algn="l">
              <a:lnSpc>
                <a:spcPct val="102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Settlement Gateway for Tokenized RCNs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77639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BFD2F0"/>
                </a:solidFill>
                <a:latin typeface="Calibri"/>
              </a:rPr>
              <a:t>Cash flows </a:t>
            </a:r>
            <a:r>
              <a:rPr sz="1900" b="1">
                <a:solidFill>
                  <a:srgbClr val="C8922B"/>
                </a:solidFill>
                <a:latin typeface="Calibri"/>
              </a:rPr>
              <a:t>TradFi → TradFi</a:t>
            </a:r>
            <a:r>
              <a:rPr sz="1900" b="0">
                <a:solidFill>
                  <a:srgbClr val="BFD2F0"/>
                </a:solidFill>
                <a:latin typeface="Calibri"/>
              </a:rPr>
              <a:t>.  The permissioned DLT is the shared</a:t>
            </a:r>
          </a:p>
          <a:p>
            <a:pPr algn="l">
              <a:lnSpc>
                <a:spcPct val="110000"/>
              </a:lnSpc>
            </a:pPr>
            <a:r>
              <a:rPr sz="1900" b="0">
                <a:solidFill>
                  <a:srgbClr val="BFD2F0"/>
                </a:solidFill>
                <a:latin typeface="Calibri"/>
              </a:rPr>
              <a:t>messaging / coordination layer — FireFly minting CMTAT tokens for RCNs.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DC8"/>
                </a:solidFill>
                <a:latin typeface="Calibri"/>
              </a:rPr>
              <a:t>DLT engineering · FireFly integration · cross-border settlement · multi-jurisdiction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50292" cy="310896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22B"/>
                </a:solidFill>
                <a:latin typeface="Calibri"/>
              </a:rPr>
              <a:t>WHAT WE TOKENIZE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A2B"/>
                </a:solidFill>
                <a:latin typeface="Calibri"/>
              </a:rPr>
              <a:t>The instrument — Reverse Convertible 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543032" cy="18288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4663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F1A2B"/>
                </a:solidFill>
                <a:latin typeface="Calibri"/>
              </a:rPr>
              <a:t>RCN = </a:t>
            </a:r>
            <a:r>
              <a:rPr sz="1700" b="1">
                <a:solidFill>
                  <a:srgbClr val="2D6CDF"/>
                </a:solidFill>
                <a:latin typeface="Calibri"/>
              </a:rPr>
              <a:t>zero-coupon note</a:t>
            </a:r>
            <a:r>
              <a:rPr sz="1700" b="1">
                <a:solidFill>
                  <a:srgbClr val="0F1A2B"/>
                </a:solidFill>
                <a:latin typeface="Calibri"/>
              </a:rPr>
              <a:t>  +  </a:t>
            </a:r>
            <a:r>
              <a:rPr sz="1700" b="1">
                <a:solidFill>
                  <a:srgbClr val="119DA4"/>
                </a:solidFill>
                <a:latin typeface="Calibri"/>
              </a:rPr>
              <a:t>short put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6778"/>
                </a:solidFill>
                <a:latin typeface="Calibri"/>
              </a:rPr>
              <a:t>Above-market coupon funded by the option premium the investor implicitly sells.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50292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▸ </a:t>
            </a:r>
            <a:r>
              <a:rPr sz="1450" b="1">
                <a:solidFill>
                  <a:srgbClr val="0F1A2B"/>
                </a:solidFill>
                <a:latin typeface="Calibri"/>
              </a:rPr>
              <a:t>Barrier ≥ level → </a:t>
            </a:r>
            <a:r>
              <a:rPr sz="1450" b="0">
                <a:solidFill>
                  <a:srgbClr val="5A6778"/>
                </a:solidFill>
                <a:latin typeface="Calibri"/>
              </a:rPr>
              <a:t>cash redemption at par + coupon (token burned)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▸ </a:t>
            </a:r>
            <a:r>
              <a:rPr sz="1450" b="1">
                <a:solidFill>
                  <a:srgbClr val="0F1A2B"/>
                </a:solidFill>
                <a:latin typeface="Calibri"/>
              </a:rPr>
              <a:t>Barrier &lt; level → </a:t>
            </a:r>
            <a:r>
              <a:rPr sz="1450" b="0">
                <a:solidFill>
                  <a:srgbClr val="5A6778"/>
                </a:solidFill>
                <a:latin typeface="Calibri"/>
              </a:rPr>
              <a:t>physical delivery of underlying, at a loss (token burned)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▸ </a:t>
            </a:r>
            <a:r>
              <a:rPr sz="1450" b="1">
                <a:solidFill>
                  <a:srgbClr val="0F1A2B"/>
                </a:solidFill>
                <a:latin typeface="Calibri"/>
              </a:rPr>
              <a:t>Variants: </a:t>
            </a:r>
            <a:r>
              <a:rPr sz="1450" b="0">
                <a:solidFill>
                  <a:srgbClr val="5A6778"/>
                </a:solidFill>
                <a:latin typeface="Calibri"/>
              </a:rPr>
              <a:t>barrier / knock-in, worst-of basket, autocallable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193792" cy="4206240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A4A"/>
                </a:solidFill>
                <a:latin typeface="Calibri"/>
              </a:rPr>
              <a:t>Why classification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51760"/>
            <a:ext cx="4663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▸ </a:t>
            </a:r>
            <a:r>
              <a:rPr sz="1400" b="1">
                <a:solidFill>
                  <a:srgbClr val="0F1A2B"/>
                </a:solidFill>
                <a:latin typeface="Calibri"/>
              </a:rPr>
              <a:t>Structured DEBT security</a:t>
            </a:r>
            <a:r>
              <a:rPr sz="1400" b="0">
                <a:solidFill>
                  <a:srgbClr val="5A6778"/>
                </a:solidFill>
                <a:latin typeface="Calibri"/>
              </a:rPr>
              <a:t> — not e-money, not a payment token.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▸ </a:t>
            </a:r>
            <a:r>
              <a:rPr sz="1400" b="1">
                <a:solidFill>
                  <a:srgbClr val="0F1A2B"/>
                </a:solidFill>
                <a:latin typeface="Calibri"/>
              </a:rPr>
              <a:t>Drives the overlay:</a:t>
            </a:r>
            <a:r>
              <a:rPr sz="1400" b="0">
                <a:solidFill>
                  <a:srgbClr val="5A6778"/>
                </a:solidFill>
                <a:latin typeface="Calibri"/>
              </a:rPr>
              <a:t> prospectus / PRIIPs KID, MiFID II product governance &amp; appropriateness.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▸ </a:t>
            </a:r>
            <a:r>
              <a:rPr sz="1400" b="1">
                <a:solidFill>
                  <a:srgbClr val="0F1A2B"/>
                </a:solidFill>
                <a:latin typeface="Calibri"/>
              </a:rPr>
              <a:t>Transfer-agent duties</a:t>
            </a:r>
            <a:r>
              <a:rPr sz="1400" b="0">
                <a:solidFill>
                  <a:srgbClr val="5A6778"/>
                </a:solidFill>
                <a:latin typeface="Calibri"/>
              </a:rPr>
              <a:t> and investor-eligibility gating apply.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▸ </a:t>
            </a:r>
            <a:r>
              <a:rPr sz="1400" b="1">
                <a:solidFill>
                  <a:srgbClr val="0F1A2B"/>
                </a:solidFill>
                <a:latin typeface="Calibri"/>
              </a:rPr>
              <a:t>Token is the register</a:t>
            </a:r>
            <a:r>
              <a:rPr sz="1400" b="0">
                <a:solidFill>
                  <a:srgbClr val="5A6778"/>
                </a:solidFill>
                <a:latin typeface="Calibri"/>
              </a:rPr>
              <a:t> where DLT law allows (ledger-based security).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50292" cy="310896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22B"/>
                </a:solidFill>
                <a:latin typeface="Calibr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A2B"/>
                </a:solidFill>
                <a:latin typeface="Calibri"/>
              </a:rPr>
              <a:t>Why CMTAT + Hyperledger FireFly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543032" cy="18288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0749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D6CDF"/>
                </a:solidFill>
                <a:latin typeface="Calibri"/>
              </a:rPr>
              <a:t>CMTAT</a:t>
            </a:r>
            <a:r>
              <a:rPr sz="1400" b="0">
                <a:solidFill>
                  <a:srgbClr val="5A6778"/>
                </a:solidFill>
                <a:latin typeface="Calibri"/>
              </a:rPr>
              <a:t>  security-token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6177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▸ </a:t>
            </a:r>
            <a:r>
              <a:rPr sz="1350" b="1">
                <a:solidFill>
                  <a:srgbClr val="0F1A2B"/>
                </a:solidFill>
                <a:latin typeface="Calibri"/>
              </a:rPr>
              <a:t>Mint / Burn</a:t>
            </a:r>
            <a:r>
              <a:rPr sz="1350" b="0">
                <a:solidFill>
                  <a:srgbClr val="5A6778"/>
                </a:solidFill>
                <a:latin typeface="Calibri"/>
              </a:rPr>
              <a:t> — issue on cash finality; redeem at maturity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▸ </a:t>
            </a:r>
            <a:r>
              <a:rPr sz="1350" b="1">
                <a:solidFill>
                  <a:srgbClr val="0F1A2B"/>
                </a:solidFill>
                <a:latin typeface="Calibri"/>
              </a:rPr>
              <a:t>Pause / Enforcement</a:t>
            </a:r>
            <a:r>
              <a:rPr sz="1350" b="0">
                <a:solidFill>
                  <a:srgbClr val="5A6778"/>
                </a:solidFill>
                <a:latin typeface="Calibri"/>
              </a:rPr>
              <a:t> — halt issuance; freeze a holder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▸ </a:t>
            </a:r>
            <a:r>
              <a:rPr sz="1350" b="1">
                <a:solidFill>
                  <a:srgbClr val="0F1A2B"/>
                </a:solidFill>
                <a:latin typeface="Calibri"/>
              </a:rPr>
              <a:t>RuleEngine (ERC-1404)</a:t>
            </a:r>
            <a:r>
              <a:rPr sz="1350" b="0">
                <a:solidFill>
                  <a:srgbClr val="5A6778"/>
                </a:solidFill>
                <a:latin typeface="Calibri"/>
              </a:rPr>
              <a:t> — eligibility &amp; jurisdiction gating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▸ </a:t>
            </a:r>
            <a:r>
              <a:rPr sz="1350" b="1">
                <a:solidFill>
                  <a:srgbClr val="0F1A2B"/>
                </a:solidFill>
                <a:latin typeface="Calibri"/>
              </a:rPr>
              <a:t>Snapshot</a:t>
            </a:r>
            <a:r>
              <a:rPr sz="1350" b="0">
                <a:solidFill>
                  <a:srgbClr val="5A6778"/>
                </a:solidFill>
                <a:latin typeface="Calibri"/>
              </a:rPr>
              <a:t> — holders-of-record at each coupon date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▸ </a:t>
            </a:r>
            <a:r>
              <a:rPr sz="1350" b="1">
                <a:solidFill>
                  <a:srgbClr val="0F1A2B"/>
                </a:solidFill>
                <a:latin typeface="Calibri"/>
              </a:rPr>
              <a:t>Debt module</a:t>
            </a:r>
            <a:r>
              <a:rPr sz="1350" b="0">
                <a:solidFill>
                  <a:srgbClr val="5A6778"/>
                </a:solidFill>
                <a:latin typeface="Calibri"/>
              </a:rPr>
              <a:t> — coupon schedule, maturity, credit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2880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99339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19DA4"/>
                </a:solidFill>
                <a:latin typeface="Calibri"/>
              </a:rPr>
              <a:t>FireFly</a:t>
            </a:r>
            <a:r>
              <a:rPr sz="1400" b="0">
                <a:solidFill>
                  <a:srgbClr val="5A6778"/>
                </a:solidFill>
                <a:latin typeface="Calibri"/>
              </a:rPr>
              <a:t>  orchestration supernode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606040"/>
            <a:ext cx="470916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19DA4"/>
                </a:solidFill>
                <a:latin typeface="Calibri"/>
              </a:rPr>
              <a:t>▸ </a:t>
            </a:r>
            <a:r>
              <a:rPr sz="1350" b="1">
                <a:solidFill>
                  <a:srgbClr val="0F1A2B"/>
                </a:solidFill>
                <a:latin typeface="Calibri"/>
              </a:rPr>
              <a:t>Token connector</a:t>
            </a:r>
            <a:r>
              <a:rPr sz="1350" b="0">
                <a:solidFill>
                  <a:srgbClr val="5A6778"/>
                </a:solidFill>
                <a:latin typeface="Calibri"/>
              </a:rPr>
              <a:t> — business-level mint/transfer/burn API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19DA4"/>
                </a:solidFill>
                <a:latin typeface="Calibri"/>
              </a:rPr>
              <a:t>▸ </a:t>
            </a:r>
            <a:r>
              <a:rPr sz="1350" b="1">
                <a:solidFill>
                  <a:srgbClr val="0F1A2B"/>
                </a:solidFill>
                <a:latin typeface="Calibri"/>
              </a:rPr>
              <a:t>Blockchain connector</a:t>
            </a:r>
            <a:r>
              <a:rPr sz="1350" b="0">
                <a:solidFill>
                  <a:srgbClr val="5A6778"/>
                </a:solidFill>
                <a:latin typeface="Calibri"/>
              </a:rPr>
              <a:t> — nonce, gas, retry, receipts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19DA4"/>
                </a:solidFill>
                <a:latin typeface="Calibri"/>
              </a:rPr>
              <a:t>▸ </a:t>
            </a:r>
            <a:r>
              <a:rPr sz="1350" b="1">
                <a:solidFill>
                  <a:srgbClr val="0F1A2B"/>
                </a:solidFill>
                <a:latin typeface="Calibri"/>
              </a:rPr>
              <a:t>Event streams</a:t>
            </a:r>
            <a:r>
              <a:rPr sz="1350" b="0">
                <a:solidFill>
                  <a:srgbClr val="5A6778"/>
                </a:solidFill>
                <a:latin typeface="Calibri"/>
              </a:rPr>
              <a:t> — durable, at-least-once, checkpointed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19DA4"/>
                </a:solidFill>
                <a:latin typeface="Calibri"/>
              </a:rPr>
              <a:t>▸ </a:t>
            </a:r>
            <a:r>
              <a:rPr sz="1350" b="1">
                <a:solidFill>
                  <a:srgbClr val="0F1A2B"/>
                </a:solidFill>
                <a:latin typeface="Calibri"/>
              </a:rPr>
              <a:t>Data exchange</a:t>
            </a:r>
            <a:r>
              <a:rPr sz="1350" b="0">
                <a:solidFill>
                  <a:srgbClr val="5A6778"/>
                </a:solidFill>
                <a:latin typeface="Calibri"/>
              </a:rPr>
              <a:t> — PII / KID off-chain, hash on-chain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19DA4"/>
                </a:solidFill>
                <a:latin typeface="Calibri"/>
              </a:rPr>
              <a:t>▸ </a:t>
            </a:r>
            <a:r>
              <a:rPr sz="1350" b="1">
                <a:solidFill>
                  <a:srgbClr val="0F1A2B"/>
                </a:solidFill>
                <a:latin typeface="Calibri"/>
              </a:rPr>
              <a:t>Transaction manager</a:t>
            </a:r>
            <a:r>
              <a:rPr sz="1350" b="0">
                <a:solidFill>
                  <a:srgbClr val="5A6778"/>
                </a:solidFill>
                <a:latin typeface="Calibri"/>
              </a:rPr>
              <a:t> — idempotent, exactly-once mint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A4A"/>
                </a:solidFill>
                <a:latin typeface="Calibri"/>
              </a:rPr>
              <a:t>Net: FireFly turns “cash settled with finality” into “token minted, once, to the right wallet, with the right restrictions.”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50292" cy="310896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22B"/>
                </a:solidFill>
                <a:latin typeface="Calibri"/>
              </a:rPr>
              <a:t>HOW IT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A2B"/>
                </a:solidFill>
                <a:latin typeface="Calibri"/>
              </a:rPr>
              <a:t>Front-to-back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543032" cy="18288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822960" y="1874519"/>
            <a:ext cx="3383280" cy="457200"/>
          </a:xfrm>
          <a:prstGeom prst="round2Same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938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① CASH — TradFi → TradFi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874519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407408" y="1874519"/>
            <a:ext cx="3383280" cy="457200"/>
          </a:xfrm>
          <a:prstGeom prst="round2Same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92938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② GATEWAY — correlates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874519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7991856" y="1874519"/>
            <a:ext cx="3383280" cy="457200"/>
          </a:xfrm>
          <a:prstGeom prst="round2Same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1856" y="192938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③ DLT — MESSAGING (no cash)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2560320"/>
            <a:ext cx="3108960" cy="658368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633472"/>
            <a:ext cx="2926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A2B"/>
                </a:solidFill>
                <a:latin typeface="Calibri"/>
              </a:rPr>
              <a:t>Client / Investor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778"/>
                </a:solidFill>
                <a:latin typeface="Calibri"/>
              </a:rPr>
              <a:t>fiat in ↓   ·   fiat out 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310128"/>
            <a:ext cx="3108960" cy="658368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383280"/>
            <a:ext cx="2926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A2B"/>
                </a:solidFill>
                <a:latin typeface="Calibri"/>
              </a:rPr>
              <a:t>Instant Rail IN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778"/>
                </a:solidFill>
                <a:latin typeface="Calibri"/>
              </a:rPr>
              <a:t>subscribe — SEPA Inst · FedNow · RTP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059936"/>
            <a:ext cx="3108960" cy="658368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133088"/>
            <a:ext cx="2926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A2B"/>
                </a:solidFill>
                <a:latin typeface="Calibri"/>
              </a:rPr>
              <a:t>Settlement / Paying Bank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778"/>
                </a:solidFill>
                <a:latin typeface="Calibri"/>
              </a:rPr>
              <a:t>escrow · client-money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809744"/>
            <a:ext cx="3108960" cy="658368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882896"/>
            <a:ext cx="2926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A2B"/>
                </a:solidFill>
                <a:latin typeface="Calibri"/>
              </a:rPr>
              <a:t>Instant Rail OUT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778"/>
                </a:solidFill>
                <a:latin typeface="Calibri"/>
              </a:rPr>
              <a:t>coupon · redemption par → client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2560320"/>
            <a:ext cx="3108960" cy="658368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7" y="2633472"/>
            <a:ext cx="2926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A2B"/>
                </a:solidFill>
                <a:latin typeface="Calibri"/>
              </a:rPr>
              <a:t>Payment Gateway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778"/>
                </a:solidFill>
                <a:latin typeface="Calibri"/>
              </a:rPr>
              <a:t>ISO 20022 ingestion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44568" y="3310128"/>
            <a:ext cx="3108960" cy="658368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7" y="3383280"/>
            <a:ext cx="2926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A2B"/>
                </a:solidFill>
                <a:latin typeface="Calibri"/>
              </a:rPr>
              <a:t>Recon &amp; Idempotency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778"/>
                </a:solidFill>
                <a:latin typeface="Calibri"/>
              </a:rPr>
              <a:t>source of truth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44568" y="4059936"/>
            <a:ext cx="3108960" cy="658368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6007" y="4133088"/>
            <a:ext cx="2926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A2B"/>
                </a:solidFill>
                <a:latin typeface="Calibri"/>
              </a:rPr>
              <a:t>Compliance Engine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778"/>
                </a:solidFill>
                <a:latin typeface="Calibri"/>
              </a:rPr>
              <a:t>KYC/AML · Travel Rule · eligibility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4809744"/>
            <a:ext cx="3108960" cy="658368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6007" y="4882896"/>
            <a:ext cx="2926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A2B"/>
                </a:solidFill>
                <a:latin typeface="Calibri"/>
              </a:rPr>
              <a:t>FireFly Orchestrator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778"/>
                </a:solidFill>
                <a:latin typeface="Calibri"/>
              </a:rPr>
              <a:t>mint / transfer / burn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9016" y="2560320"/>
            <a:ext cx="3108960" cy="658368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119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0456" y="2633472"/>
            <a:ext cx="2926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A2B"/>
                </a:solidFill>
                <a:latin typeface="Calibri"/>
              </a:rPr>
              <a:t>CMTAT RCN Token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778"/>
                </a:solidFill>
                <a:latin typeface="Calibri"/>
              </a:rPr>
              <a:t>shared golden record + message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9016" y="3310128"/>
            <a:ext cx="3108960" cy="658368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119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0456" y="3383280"/>
            <a:ext cx="2926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A2B"/>
                </a:solidFill>
                <a:latin typeface="Calibri"/>
              </a:rPr>
              <a:t>Authoritative Register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778"/>
                </a:solidFill>
                <a:latin typeface="Calibri"/>
              </a:rPr>
              <a:t>ledger-based security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29016" y="4059936"/>
            <a:ext cx="3108960" cy="658368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119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0456" y="4133088"/>
            <a:ext cx="2926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A2B"/>
                </a:solidFill>
                <a:latin typeface="Calibri"/>
              </a:rPr>
              <a:t>Investor Wallet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778"/>
                </a:solidFill>
                <a:latin typeface="Calibri"/>
              </a:rPr>
              <a:t>whitelisted · custodial / MPC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9016" y="4809744"/>
            <a:ext cx="3108960" cy="658368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119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0456" y="4882896"/>
            <a:ext cx="2926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A2B"/>
                </a:solidFill>
                <a:latin typeface="Calibri"/>
              </a:rPr>
              <a:t>Coordination Events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778"/>
                </a:solidFill>
                <a:latin typeface="Calibri"/>
              </a:rPr>
              <a:t>mint · snapshot · burn → payout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50292" cy="310896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22B"/>
                </a:solidFill>
                <a:latin typeface="Calibri"/>
              </a:rPr>
              <a:t>NO ON-CHAIN VALUE LEG TO MAKE ATOMIC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A2B"/>
                </a:solidFill>
                <a:latin typeface="Calibri"/>
              </a:rPr>
              <a:t>The coordination problem — the actual hard 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543032" cy="18288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A6778"/>
                </a:solidFill>
                <a:latin typeface="Calibri"/>
              </a:rPr>
              <a:t>Cash stays in TradFi; the DLT only messages. So the problem isn’t atomic value transfer — it’s correlating an off-chain cash event to an on-chain message, exactly once, with a safe reversal.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31720"/>
            <a:ext cx="10543032" cy="384048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8658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865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38658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TRADE-OFF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15768"/>
            <a:ext cx="1054303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715768"/>
            <a:ext cx="82296" cy="786384"/>
          </a:xfrm>
          <a:prstGeom prst="rect">
            <a:avLst/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807208"/>
            <a:ext cx="2514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A2B"/>
                </a:solidFill>
                <a:latin typeface="Calibri"/>
              </a:rPr>
              <a:t>Naïve sequential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07208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778"/>
                </a:solidFill>
                <a:latin typeface="Calibri"/>
              </a:rPr>
              <a:t>Cash finality → then message (mint)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807208"/>
            <a:ext cx="37490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778"/>
                </a:solidFill>
                <a:latin typeface="Calibri"/>
              </a:rPr>
              <a:t>Window of “cash taken, note not recorded.” Must reconcile + reverse.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02151"/>
            <a:ext cx="1054303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502151"/>
            <a:ext cx="82296" cy="78638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593591"/>
            <a:ext cx="2514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A2B"/>
                </a:solidFill>
                <a:latin typeface="Calibri"/>
              </a:rPr>
              <a:t>Escrow + msg-on-finality  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593591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778"/>
                </a:solidFill>
                <a:latin typeface="Calibri"/>
              </a:rPr>
              <a:t>Escrow held; mint only on confirmed finality; auto-refund on timeout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593591"/>
            <a:ext cx="37490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778"/>
                </a:solidFill>
                <a:latin typeface="Calibri"/>
              </a:rPr>
              <a:t>Strong client protection; needs safeguarded account. Recommended.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288536"/>
            <a:ext cx="1054303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288536"/>
            <a:ext cx="82296" cy="786384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379975"/>
            <a:ext cx="2514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A2B"/>
                </a:solidFill>
                <a:latin typeface="Calibri"/>
              </a:rPr>
              <a:t>Escrow release gated on mint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379975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778"/>
                </a:solidFill>
                <a:latin typeface="Calibri"/>
              </a:rPr>
              <a:t>Escrow → issuer only AFTER on-chain mint event observed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379975"/>
            <a:ext cx="37490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778"/>
                </a:solidFill>
                <a:latin typeface="Calibri"/>
              </a:rPr>
              <a:t>Kills both races: minted-but-cash-lost and cash-released-but-not-minted.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074920"/>
            <a:ext cx="1054303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5074920"/>
            <a:ext cx="82296" cy="786384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166359"/>
            <a:ext cx="2514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A2B"/>
                </a:solidFill>
                <a:latin typeface="Calibri"/>
              </a:rPr>
              <a:t>Optional on-chain DvP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166359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778"/>
                </a:solidFill>
                <a:latin typeface="Calibri"/>
              </a:rPr>
              <a:t>Tokenized deposit on same ledger, where law permits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166359"/>
            <a:ext cx="37490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778"/>
                </a:solidFill>
                <a:latin typeface="Calibri"/>
              </a:rPr>
              <a:t>Cleanest atomicity — but pulls money on-chain, against the TradFi→TradFi goal.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93445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22B"/>
                </a:solidFill>
                <a:latin typeface="Calibri"/>
              </a:rPr>
              <a:t>Recommended: </a:t>
            </a:r>
            <a:r>
              <a:rPr sz="1300" b="0">
                <a:solidFill>
                  <a:srgbClr val="0F1A2B"/>
                </a:solidFill>
                <a:latin typeface="Calibri"/>
              </a:rPr>
              <a:t>escrow + message-on-finality, escrow release gated on the mint event, idempotent reconciliation as source of truth. No value on-chain = tiny failure surface.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50292" cy="310896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22B"/>
                </a:solidFill>
                <a:latin typeface="Calibri"/>
              </a:rPr>
              <a:t>EXACTLY-ONCE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A2B"/>
                </a:solidFill>
                <a:latin typeface="Calibri"/>
              </a:rPr>
              <a:t>Payment → mint sequence (escrow, idempotent)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543032" cy="18288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645920"/>
            <a:ext cx="1554480" cy="45720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673352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0353" y="2148840"/>
            <a:ext cx="10972" cy="3794760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58568" y="1645920"/>
            <a:ext cx="1554480" cy="45720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1673352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Settlement
Bank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0321" y="2148840"/>
            <a:ext cx="10972" cy="3794760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1645920"/>
            <a:ext cx="1554480" cy="45720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1673352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Payment
Gateway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0289" y="2148840"/>
            <a:ext cx="10972" cy="3794760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18504" y="1645920"/>
            <a:ext cx="1554480" cy="45720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673352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Recon /
Idempotency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0257" y="2148840"/>
            <a:ext cx="10972" cy="3794760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48471" y="1645920"/>
            <a:ext cx="1554480" cy="45720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1673352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FireFly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20225" y="2148840"/>
            <a:ext cx="10972" cy="3794760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78439" y="1645920"/>
            <a:ext cx="1554480" cy="45720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39" y="1673352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CMTAT
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50193" y="2148840"/>
            <a:ext cx="10972" cy="3794760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05840" y="2468880"/>
            <a:ext cx="2029968" cy="0"/>
          </a:xfrm>
          <a:prstGeom prst="bentConnector3">
            <a:avLst/>
          </a:prstGeom>
          <a:ln w="17780">
            <a:solidFill>
              <a:srgbClr val="0F1A2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7783" y="21762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0F1A2B"/>
                </a:solidFill>
                <a:latin typeface="Calibri"/>
              </a:rPr>
              <a:t>instant credit transfer (pacs.008)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35808" y="2880360"/>
            <a:ext cx="2029967" cy="0"/>
          </a:xfrm>
          <a:prstGeom prst="bentConnector3">
            <a:avLst/>
          </a:prstGeom>
          <a:ln w="17780">
            <a:solidFill>
              <a:srgbClr val="119DA4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87751" y="25877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19DA4"/>
                </a:solidFill>
                <a:latin typeface="Calibri"/>
              </a:rPr>
              <a:t>pacs.002 ACSC — settlement finality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65775" y="3291840"/>
            <a:ext cx="2029969" cy="0"/>
          </a:xfrm>
          <a:prstGeom prst="bentConnector3">
            <a:avLst/>
          </a:prstGeom>
          <a:ln w="17780">
            <a:solidFill>
              <a:srgbClr val="0F1A2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17719" y="299923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0F1A2B"/>
                </a:solidFill>
                <a:latin typeface="Calibri"/>
              </a:rPr>
              <a:t>record(subscriptionId, amount)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8504" y="352044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778"/>
                </a:solidFill>
                <a:latin typeface="Calibri"/>
              </a:rPr>
              <a:t>idempotency check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95744" y="3977639"/>
            <a:ext cx="2029967" cy="0"/>
          </a:xfrm>
          <a:prstGeom prst="bentConnector3">
            <a:avLst/>
          </a:prstGeom>
          <a:ln w="17780">
            <a:solidFill>
              <a:srgbClr val="2D6CDF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47688" y="3685031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D6CDF"/>
                </a:solidFill>
                <a:latin typeface="Calibri"/>
              </a:rPr>
              <a:t>mintRequest [operationId = subscriptionId]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25711" y="4389120"/>
            <a:ext cx="2029968" cy="0"/>
          </a:xfrm>
          <a:prstGeom prst="bentConnector3">
            <a:avLst/>
          </a:prstGeom>
          <a:ln w="17780">
            <a:solidFill>
              <a:srgbClr val="2D6CDF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677655" y="4096511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D6CDF"/>
                </a:solidFill>
                <a:latin typeface="Calibri"/>
              </a:rPr>
              <a:t>mint(wallet, units)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25711" y="4800600"/>
            <a:ext cx="2029968" cy="0"/>
          </a:xfrm>
          <a:prstGeom prst="bentConnector3">
            <a:avLst/>
          </a:prstGeom>
          <a:ln w="17780">
            <a:prstDash val="dash"/>
            <a:solidFill>
              <a:srgbClr val="119D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677655" y="45079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19DA4"/>
                </a:solidFill>
                <a:latin typeface="Calibri"/>
              </a:rPr>
              <a:t>Mint event + receipt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95744" y="5212080"/>
            <a:ext cx="2029967" cy="0"/>
          </a:xfrm>
          <a:prstGeom prst="bentConnector3">
            <a:avLst/>
          </a:prstGeom>
          <a:ln w="17780">
            <a:prstDash val="dash"/>
            <a:solidFill>
              <a:srgbClr val="119D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647688" y="49194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19DA4"/>
                </a:solidFill>
                <a:latin typeface="Calibri"/>
              </a:rPr>
              <a:t>minted(subscriptionId, txHash)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035808" y="5623560"/>
            <a:ext cx="4059936" cy="0"/>
          </a:xfrm>
          <a:prstGeom prst="bentConnector3">
            <a:avLst/>
          </a:prstGeom>
          <a:ln w="17780">
            <a:solidFill>
              <a:srgbClr val="C892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02736" y="5330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8922B"/>
                </a:solidFill>
                <a:latin typeface="Calibri"/>
              </a:rPr>
              <a:t>release escrow to issuer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6144768"/>
            <a:ext cx="10543032" cy="457200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6217920"/>
            <a:ext cx="10149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42A4A"/>
                </a:solidFill>
                <a:latin typeface="Calibri"/>
              </a:rPr>
              <a:t>Idempotency key = ISO 20022 end-to-end id = FireFly operationId → re-delivered payment events never double-mint. On reject/timeout → auto-refund escrow.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50292" cy="310896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22B"/>
                </a:solidFill>
                <a:latin typeface="Calibri"/>
              </a:rPr>
              <a:t>TOKEN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A2B"/>
                </a:solidFill>
                <a:latin typeface="Calibri"/>
              </a:rPr>
              <a:t>CMTAT ↔ RCN lifecycle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543032" cy="18288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91840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46704"/>
            <a:ext cx="1371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A2B"/>
                </a:solidFill>
                <a:latin typeface="Calibri"/>
              </a:rPr>
              <a:t>Subscribed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3291840"/>
            <a:ext cx="1554480" cy="621792"/>
          </a:xfrm>
          <a:prstGeom prst="roundRect">
            <a:avLst/>
          </a:prstGeom>
          <a:solidFill>
            <a:srgbClr val="EEF3FB"/>
          </a:solidFill>
          <a:ln w="1905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334670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A2B"/>
                </a:solidFill>
                <a:latin typeface="Calibri"/>
              </a:rPr>
              <a:t>Active (in issue)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3602736"/>
            <a:ext cx="640080" cy="0"/>
          </a:xfrm>
          <a:prstGeom prst="bentConnector3">
            <a:avLst/>
          </a:prstGeom>
          <a:ln w="20320">
            <a:solidFill>
              <a:srgbClr val="2D6CDF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8871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D6CDF"/>
                </a:solidFill>
                <a:latin typeface="Calibri"/>
              </a:rPr>
              <a:t>mint()</a:t>
            </a:r>
          </a:p>
        </p:txBody>
      </p:sp>
      <p:sp>
        <p:nvSpPr>
          <p:cNvPr id="14" name="Diamond 13"/>
          <p:cNvSpPr/>
          <p:nvPr/>
        </p:nvSpPr>
        <p:spPr>
          <a:xfrm>
            <a:off x="5989320" y="3246120"/>
            <a:ext cx="822960" cy="822960"/>
          </a:xfrm>
          <a:prstGeom prst="diamond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59" y="4114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8922B"/>
                </a:solidFill>
                <a:latin typeface="Calibri"/>
              </a:rPr>
              <a:t>barrier?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34840" y="3602736"/>
            <a:ext cx="1554480" cy="54864"/>
          </a:xfrm>
          <a:prstGeom prst="bentConnector3">
            <a:avLst/>
          </a:prstGeom>
          <a:ln w="20320">
            <a:solidFill>
              <a:srgbClr val="0F1A2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40479" y="33192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0F1A2B"/>
                </a:solidFill>
                <a:latin typeface="Calibri"/>
              </a:rPr>
              <a:t>maturity / autocall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514600"/>
            <a:ext cx="18288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9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569464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A2B"/>
                </a:solidFill>
                <a:latin typeface="Calibri"/>
              </a:rPr>
              <a:t>Redeemed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4206240"/>
            <a:ext cx="18288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9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4261103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A2B"/>
                </a:solidFill>
                <a:latin typeface="Calibri"/>
              </a:rPr>
              <a:t>Settled (physical)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812280" y="2880360"/>
            <a:ext cx="502920" cy="640080"/>
          </a:xfrm>
          <a:prstGeom prst="bentConnector3">
            <a:avLst/>
          </a:prstGeom>
          <a:ln w="20320">
            <a:solidFill>
              <a:srgbClr val="119DA4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92140" y="28895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19DA4"/>
                </a:solidFill>
                <a:latin typeface="Calibri"/>
              </a:rPr>
              <a:t>OK → burn + par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12280" y="3794760"/>
            <a:ext cx="502920" cy="640080"/>
          </a:xfrm>
          <a:prstGeom prst="bentConnector3">
            <a:avLst/>
          </a:prstGeom>
          <a:ln w="20320">
            <a:solidFill>
              <a:srgbClr val="C8922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92140" y="38039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8922B"/>
                </a:solidFill>
                <a:latin typeface="Calibri"/>
              </a:rPr>
              <a:t>breached → deliver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2514600"/>
            <a:ext cx="155448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256946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A2B"/>
                </a:solidFill>
                <a:latin typeface="Calibri"/>
              </a:rPr>
              <a:t>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4206240"/>
            <a:ext cx="155448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6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4261103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A2B"/>
                </a:solidFill>
                <a:latin typeface="Calibri"/>
              </a:rPr>
              <a:t>End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0" y="2825496"/>
            <a:ext cx="914400" cy="0"/>
          </a:xfrm>
          <a:prstGeom prst="bentConnector3">
            <a:avLst/>
          </a:prstGeom>
          <a:ln w="20320">
            <a:solidFill>
              <a:srgbClr val="5A677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0" y="4517136"/>
            <a:ext cx="914400" cy="0"/>
          </a:xfrm>
          <a:prstGeom prst="bentConnector3">
            <a:avLst/>
          </a:prstGeom>
          <a:ln w="20320">
            <a:solidFill>
              <a:srgbClr val="5A677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880360" y="5212080"/>
            <a:ext cx="1554480" cy="621792"/>
          </a:xfrm>
          <a:prstGeom prst="roundRect">
            <a:avLst/>
          </a:prstGeom>
          <a:solidFill>
            <a:srgbClr val="EBF6F6"/>
          </a:solidFill>
          <a:ln w="19050">
            <a:solidFill>
              <a:srgbClr val="119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526694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A2B"/>
                </a:solidFill>
                <a:latin typeface="Calibri"/>
              </a:rPr>
              <a:t>CouponRecord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57600" y="3913632"/>
            <a:ext cx="0" cy="1298448"/>
          </a:xfrm>
          <a:prstGeom prst="bentConnector3">
            <a:avLst/>
          </a:prstGeom>
          <a:ln w="20320">
            <a:solidFill>
              <a:srgbClr val="119DA4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286000" y="4251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19DA4"/>
                </a:solidFill>
                <a:latin typeface="Calibri"/>
              </a:rPr>
              <a:t>snapshot() @ record date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2377440" y="5394960"/>
            <a:ext cx="502920" cy="0"/>
          </a:xfrm>
          <a:prstGeom prst="bentConnector3">
            <a:avLst/>
          </a:prstGeom>
          <a:ln w="20320">
            <a:solidFill>
              <a:srgbClr val="119DA4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377440" y="3703320"/>
            <a:ext cx="0" cy="1691640"/>
          </a:xfrm>
          <a:prstGeom prst="bentConnector3">
            <a:avLst/>
          </a:prstGeom>
          <a:ln w="20320">
            <a:prstDash val="dash"/>
            <a:solidFill>
              <a:srgbClr val="119DA4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05840" y="42382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19DA4"/>
                </a:solidFill>
                <a:latin typeface="Calibri"/>
              </a:rPr>
              <a:t>coupon paid on fiat rail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80360" y="1691640"/>
            <a:ext cx="1554480" cy="621792"/>
          </a:xfrm>
          <a:prstGeom prst="roundRect">
            <a:avLst/>
          </a:prstGeom>
          <a:solidFill>
            <a:srgbClr val="FBEEEE"/>
          </a:solidFill>
          <a:ln w="19050">
            <a:solidFill>
              <a:srgbClr val="C0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360" y="174650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A2B"/>
                </a:solidFill>
                <a:latin typeface="Calibri"/>
              </a:rPr>
              <a:t>Frozen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3657600" y="2313432"/>
            <a:ext cx="0" cy="978408"/>
          </a:xfrm>
          <a:prstGeom prst="bentConnector3">
            <a:avLst/>
          </a:prstGeom>
          <a:ln w="20320">
            <a:solidFill>
              <a:srgbClr val="C03A3A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286000" y="24917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A3A"/>
                </a:solidFill>
                <a:latin typeface="Calibri"/>
              </a:rPr>
              <a:t>freeze(holder)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6172200"/>
            <a:ext cx="10543032" cy="4572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6236208"/>
            <a:ext cx="10241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A2B"/>
                </a:solidFill>
                <a:latin typeface="Calibri"/>
              </a:rPr>
              <a:t>Three ways out of Active: </a:t>
            </a:r>
            <a:r>
              <a:rPr sz="1150" b="0">
                <a:solidFill>
                  <a:srgbClr val="5A6778"/>
                </a:solidFill>
                <a:latin typeface="Calibri"/>
              </a:rPr>
              <a:t>recurring coupon cycle · involuntary Frozen hold (sanctions/court) · terminal Exit where the barrier routes to cash vs physical.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50292" cy="310896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22B"/>
                </a:solidFill>
                <a:latin typeface="Calibri"/>
              </a:rPr>
              <a:t>WHERE CROSS-BORDER BITES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A2B"/>
                </a:solidFill>
                <a:latin typeface="Calibri"/>
              </a:rPr>
              <a:t>Multi-jurisdiction compliance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543032" cy="18288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1737360" cy="749808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874519"/>
            <a:ext cx="1761134" cy="74980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002536"/>
            <a:ext cx="176113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🇨🇭 Switzerland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1454" y="1874519"/>
            <a:ext cx="1761134" cy="74980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1454" y="2002536"/>
            <a:ext cx="176113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🇪🇺 EU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2588" y="1874519"/>
            <a:ext cx="1761134" cy="74980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2588" y="2002536"/>
            <a:ext cx="176113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🇬🇧 UK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3723" y="1874519"/>
            <a:ext cx="1761134" cy="74980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3723" y="2002536"/>
            <a:ext cx="176113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🇸🇬 Singapore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4857" y="1874519"/>
            <a:ext cx="1761134" cy="74980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4857" y="2002536"/>
            <a:ext cx="176113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🇺🇸 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624327"/>
            <a:ext cx="1737360" cy="749808"/>
          </a:xfrm>
          <a:prstGeom prst="rect">
            <a:avLst/>
          </a:prstGeom>
          <a:solidFill>
            <a:srgbClr val="23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715768"/>
            <a:ext cx="1554480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Instant rail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2624327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15184" y="2697479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SIC / SEPA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1454" y="2624327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6318" y="2697479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SEPA Inst · TIPS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2588" y="2624327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7452" y="2697479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Faster Payments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3723" y="2624327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8587" y="2697479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FAST · PayNow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4857" y="2624327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59721" y="2697479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FedNow · RTP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374135"/>
            <a:ext cx="1737360" cy="749808"/>
          </a:xfrm>
          <a:prstGeom prst="rect">
            <a:avLst/>
          </a:prstGeom>
          <a:solidFill>
            <a:srgbClr val="23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465575"/>
            <a:ext cx="1554480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Legal basis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3374135"/>
            <a:ext cx="1761134" cy="7498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15184" y="3447287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DLT Act (CO 973d)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1454" y="3374135"/>
            <a:ext cx="1761134" cy="7498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6318" y="3447287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MiCA + MiFID II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2588" y="3374135"/>
            <a:ext cx="1761134" cy="7498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7452" y="3447287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FSMA · DSS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43723" y="3374135"/>
            <a:ext cx="1761134" cy="7498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98587" y="3447287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SFA · PS Act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4857" y="3374135"/>
            <a:ext cx="1761134" cy="7498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9721" y="3447287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Securities Act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4123944"/>
            <a:ext cx="1737360" cy="749808"/>
          </a:xfrm>
          <a:prstGeom prst="rect">
            <a:avLst/>
          </a:prstGeom>
          <a:solidFill>
            <a:srgbClr val="23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215383"/>
            <a:ext cx="1554480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Disclosure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60320" y="4123944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15184" y="4197096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FIDLEG KID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21454" y="4123944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6318" y="4197096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PRIIPs + Prospectus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82588" y="4123944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7452" y="4197096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UK PRIIPs · Duty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43723" y="4123944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98587" y="4197096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Product sheet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04857" y="4123944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59721" y="4197096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Reg S / 144A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4873752"/>
            <a:ext cx="1737360" cy="749808"/>
          </a:xfrm>
          <a:prstGeom prst="rect">
            <a:avLst/>
          </a:prstGeom>
          <a:solidFill>
            <a:srgbClr val="23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4965192"/>
            <a:ext cx="1554480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Investor gate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4873752"/>
            <a:ext cx="1761134" cy="7498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15184" y="4946904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Qualified/retail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21454" y="4873752"/>
            <a:ext cx="1761134" cy="7498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76318" y="4946904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MiFID categories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082588" y="4873752"/>
            <a:ext cx="1761134" cy="7498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7452" y="4946904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FCA categorisation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43723" y="4873752"/>
            <a:ext cx="1761134" cy="7498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98587" y="4946904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Accredited/instl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04857" y="4873752"/>
            <a:ext cx="1761134" cy="7498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59721" y="4946904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Accredited/QIB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" y="5623560"/>
            <a:ext cx="1737360" cy="749808"/>
          </a:xfrm>
          <a:prstGeom prst="rect">
            <a:avLst/>
          </a:prstGeom>
          <a:solidFill>
            <a:srgbClr val="23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" y="5715000"/>
            <a:ext cx="1554480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AML / Travel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560320" y="5623560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15184" y="5696712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AMLA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21454" y="5623560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76318" y="5696712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AMLD · TFR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82588" y="5623560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7452" y="5696712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MLR 2017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843723" y="5623560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98587" y="5696712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MAS Notice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604857" y="5623560"/>
            <a:ext cx="176113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59721" y="5696712"/>
            <a:ext cx="1651406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0F1A2B"/>
                </a:solidFill>
                <a:latin typeface="Calibri"/>
              </a:rPr>
              <a:t>BSA / FinCEN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" y="648309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8922B"/>
                </a:solidFill>
                <a:latin typeface="Calibri"/>
              </a:rPr>
              <a:t>Enforced in the RuleEngine, not the UI: </a:t>
            </a:r>
            <a:r>
              <a:rPr sz="1250" b="0">
                <a:solidFill>
                  <a:srgbClr val="0F1A2B"/>
                </a:solidFill>
                <a:latin typeface="Calibri"/>
              </a:rPr>
              <a:t>wallet jurisdiction is checked on every transfer · Travel-Rule payloads off-chain (IVMS-101) · PII hashes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21208"/>
            <a:ext cx="50292" cy="310896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22B"/>
                </a:solidFill>
                <a:latin typeface="Calibri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229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Two thin layers — token + orchestrator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17904"/>
            <a:ext cx="10543032" cy="182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120640" cy="4297680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822960" y="1828800"/>
            <a:ext cx="5120640" cy="402336"/>
          </a:xfrm>
          <a:prstGeom prst="round2Same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83664"/>
            <a:ext cx="4754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RCNToken.sol  (extends CMTAT)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77440"/>
            <a:ext cx="480974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5F8AC0"/>
                </a:solidFill>
                <a:latin typeface="Consolas"/>
              </a:rPr>
              <a:t>// thin: lifecycle DRIVEN by FireFly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8922B"/>
                </a:solidFill>
                <a:latin typeface="Consolas"/>
              </a:rPr>
              <a:t>function mintOnSettlement(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  bytes32 subId, address to, uint256 u)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onlyRole(ISSUER_ROLE) {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5F8AC0"/>
                </a:solidFill>
                <a:latin typeface="Consolas"/>
              </a:rPr>
              <a:t>  // RuleEngine must pass: eligible+juris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_mint(to, u);  emit Minted(subId,to,u);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8922B"/>
                </a:solidFill>
                <a:latin typeface="Consolas"/>
              </a:rPr>
              <a:t>function observeBarrier(uint256 lvlBps)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onlyRole(ORACLE_ROLE) { 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if (lvlBps &lt; barrierBps) breached=true; }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8922B"/>
                </a:solidFill>
                <a:latin typeface="Consolas"/>
              </a:rPr>
              <a:t>function settle(address h, uint256 u)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onlyRole(SETTLEMENT_ROLE) {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bool physical = breached; _burn(h,u);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828800"/>
            <a:ext cx="5120640" cy="4297680"/>
          </a:xfrm>
          <a:prstGeom prst="roundRect">
            <a:avLst/>
          </a:prstGeom>
          <a:solidFill>
            <a:srgbClr val="0A121F"/>
          </a:solidFill>
          <a:ln w="1270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6245352" y="1828800"/>
            <a:ext cx="5120640" cy="402336"/>
          </a:xfrm>
          <a:prstGeom prst="round2Same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883664"/>
            <a:ext cx="4754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orchestrator.ts  (FireFly SDK)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377440"/>
            <a:ext cx="480974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5F8AC0"/>
                </a:solidFill>
                <a:latin typeface="Consolas"/>
              </a:rPr>
              <a:t>// idempotent on subscriptionId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8922B"/>
                </a:solidFill>
                <a:latin typeface="Consolas"/>
              </a:rPr>
              <a:t>async function onPaymentFinality(e){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if (await alreadyMinted(e.subId))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5F8AC0"/>
                </a:solidFill>
                <a:latin typeface="Consolas"/>
              </a:rPr>
              <a:t>      return;              // dedupe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const ok = await compliance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    .check(e.wallet, e.subId);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if (!ok) return refundEscrow(e.subId);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await firefly.mintTokens(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  { pool: POOL, to: e.wallet,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      amount: e.units },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5F8AC0"/>
                </a:solidFill>
                <a:latin typeface="Consolas"/>
              </a:rPr>
              <a:t>    { requestId: e.subId,      // idem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5F8AC0"/>
                </a:solidFill>
                <a:latin typeface="Consolas"/>
              </a:rPr>
              <a:t>      confirm: true });   // wait final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D7E1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50292" cy="310896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22B"/>
                </a:solidFill>
                <a:latin typeface="Calibri"/>
              </a:rPr>
              <a:t>FAILURE-FIRST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A2B"/>
                </a:solidFill>
                <a:latin typeface="Calibri"/>
              </a:rPr>
              <a:t>Reliability &amp; threat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543032" cy="18288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6CDF"/>
                </a:solidFill>
                <a:latin typeface="Calibri"/>
              </a:rPr>
              <a:t>Failure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4663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▸ </a:t>
            </a:r>
            <a:r>
              <a:rPr sz="1300" b="1">
                <a:solidFill>
                  <a:srgbClr val="0F1A2B"/>
                </a:solidFill>
                <a:latin typeface="Calibri"/>
              </a:rPr>
              <a:t>Payment event lost</a:t>
            </a:r>
            <a:r>
              <a:rPr sz="1300" b="0">
                <a:solidFill>
                  <a:srgbClr val="5A6778"/>
                </a:solidFill>
                <a:latin typeface="Calibri"/>
              </a:rPr>
              <a:t> → durable FireFly stream + re-drive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▸ </a:t>
            </a:r>
            <a:r>
              <a:rPr sz="1300" b="1">
                <a:solidFill>
                  <a:srgbClr val="0F1A2B"/>
                </a:solidFill>
                <a:latin typeface="Calibri"/>
              </a:rPr>
              <a:t>Duplicate event</a:t>
            </a:r>
            <a:r>
              <a:rPr sz="1300" b="0">
                <a:solidFill>
                  <a:srgbClr val="5A6778"/>
                </a:solidFill>
                <a:latin typeface="Calibri"/>
              </a:rPr>
              <a:t> → idempotency key, exactly-once mint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▸ </a:t>
            </a:r>
            <a:r>
              <a:rPr sz="1300" b="1">
                <a:solidFill>
                  <a:srgbClr val="0F1A2B"/>
                </a:solidFill>
                <a:latin typeface="Calibri"/>
              </a:rPr>
              <a:t>Cash settled, mint reverts</a:t>
            </a:r>
            <a:r>
              <a:rPr sz="1300" b="0">
                <a:solidFill>
                  <a:srgbClr val="5A6778"/>
                </a:solidFill>
                <a:latin typeface="Calibri"/>
              </a:rPr>
              <a:t> → auto-refund escrow, no partial state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▸ </a:t>
            </a:r>
            <a:r>
              <a:rPr sz="1300" b="1">
                <a:solidFill>
                  <a:srgbClr val="0F1A2B"/>
                </a:solidFill>
                <a:latin typeface="Calibri"/>
              </a:rPr>
              <a:t>Chain reorg</a:t>
            </a:r>
            <a:r>
              <a:rPr sz="1300" b="0">
                <a:solidFill>
                  <a:srgbClr val="5A6778"/>
                </a:solidFill>
                <a:latin typeface="Calibri"/>
              </a:rPr>
              <a:t> → confirm:true, only finalized receipts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▸ </a:t>
            </a:r>
            <a:r>
              <a:rPr sz="1300" b="1">
                <a:solidFill>
                  <a:srgbClr val="0F1A2B"/>
                </a:solidFill>
                <a:latin typeface="Calibri"/>
              </a:rPr>
              <a:t>Oracle dispute at barrier</a:t>
            </a:r>
            <a:r>
              <a:rPr sz="1300" b="0">
                <a:solidFill>
                  <a:srgbClr val="5A6778"/>
                </a:solidFill>
                <a:latin typeface="Calibri"/>
              </a:rPr>
              <a:t> → signed feed + Pause if systemic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23951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933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A3A"/>
                </a:solidFill>
                <a:latin typeface="Calibri"/>
              </a:rPr>
              <a:t>Threats →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60320"/>
            <a:ext cx="47548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03A3A"/>
                </a:solidFill>
                <a:latin typeface="Calibri"/>
              </a:rPr>
              <a:t>▸ </a:t>
            </a:r>
            <a:r>
              <a:rPr sz="1300" b="1">
                <a:solidFill>
                  <a:srgbClr val="0F1A2B"/>
                </a:solidFill>
                <a:latin typeface="Calibri"/>
              </a:rPr>
              <a:t>ISSUER_ROLE key compromise</a:t>
            </a:r>
            <a:r>
              <a:rPr sz="1300" b="0">
                <a:solidFill>
                  <a:srgbClr val="5A6778"/>
                </a:solidFill>
                <a:latin typeface="Calibri"/>
              </a:rPr>
              <a:t> → HSM/MPC, multisig, per-op limits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03A3A"/>
                </a:solidFill>
                <a:latin typeface="Calibri"/>
              </a:rPr>
              <a:t>▸ </a:t>
            </a:r>
            <a:r>
              <a:rPr sz="1300" b="1">
                <a:solidFill>
                  <a:srgbClr val="0F1A2B"/>
                </a:solidFill>
                <a:latin typeface="Calibri"/>
              </a:rPr>
              <a:t>Oracle manipulation</a:t>
            </a:r>
            <a:r>
              <a:rPr sz="1300" b="0">
                <a:solidFill>
                  <a:srgbClr val="5A6778"/>
                </a:solidFill>
                <a:latin typeface="Calibri"/>
              </a:rPr>
              <a:t> → multi-source signed feed, dispute window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03A3A"/>
                </a:solidFill>
                <a:latin typeface="Calibri"/>
              </a:rPr>
              <a:t>▸ </a:t>
            </a:r>
            <a:r>
              <a:rPr sz="1300" b="1">
                <a:solidFill>
                  <a:srgbClr val="0F1A2B"/>
                </a:solidFill>
                <a:latin typeface="Calibri"/>
              </a:rPr>
              <a:t>Payment replay</a:t>
            </a:r>
            <a:r>
              <a:rPr sz="1300" b="0">
                <a:solidFill>
                  <a:srgbClr val="5A6778"/>
                </a:solidFill>
                <a:latin typeface="Calibri"/>
              </a:rPr>
              <a:t> → end-to-end idempotency key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03A3A"/>
                </a:solidFill>
                <a:latin typeface="Calibri"/>
              </a:rPr>
              <a:t>▸ </a:t>
            </a:r>
            <a:r>
              <a:rPr sz="1300" b="1">
                <a:solidFill>
                  <a:srgbClr val="0F1A2B"/>
                </a:solidFill>
                <a:latin typeface="Calibri"/>
              </a:rPr>
              <a:t>Eligibility bypass on resale</a:t>
            </a:r>
            <a:r>
              <a:rPr sz="1300" b="0">
                <a:solidFill>
                  <a:srgbClr val="5A6778"/>
                </a:solidFill>
                <a:latin typeface="Calibri"/>
              </a:rPr>
              <a:t> → RuleEngine gates every transfer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03A3A"/>
                </a:solidFill>
                <a:latin typeface="Calibri"/>
              </a:rPr>
              <a:t>▸ </a:t>
            </a:r>
            <a:r>
              <a:rPr sz="1300" b="1">
                <a:solidFill>
                  <a:srgbClr val="0F1A2B"/>
                </a:solidFill>
                <a:latin typeface="Calibri"/>
              </a:rPr>
              <a:t>PII on-chain</a:t>
            </a:r>
            <a:r>
              <a:rPr sz="1300" b="0">
                <a:solidFill>
                  <a:srgbClr val="5A6778"/>
                </a:solidFill>
                <a:latin typeface="Calibri"/>
              </a:rPr>
              <a:t> → hashes only, private data exchange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03A3A"/>
                </a:solidFill>
                <a:latin typeface="Calibri"/>
              </a:rPr>
              <a:t>▸ </a:t>
            </a:r>
            <a:r>
              <a:rPr sz="1300" b="1">
                <a:solidFill>
                  <a:srgbClr val="0F1A2B"/>
                </a:solidFill>
                <a:latin typeface="Calibri"/>
              </a:rPr>
              <a:t>Reg S → US-person leakage</a:t>
            </a:r>
            <a:r>
              <a:rPr sz="1300" b="0">
                <a:solidFill>
                  <a:srgbClr val="5A6778"/>
                </a:solidFill>
                <a:latin typeface="Calibri"/>
              </a:rPr>
              <a:t> → jurisdiction attr enforced on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22B"/>
                </a:solidFill>
                <a:latin typeface="Calibri"/>
              </a:rPr>
              <a:t>Invariant: </a:t>
            </a:r>
            <a:r>
              <a:rPr sz="1300" b="0">
                <a:solidFill>
                  <a:srgbClr val="0F1A2B"/>
                </a:solidFill>
                <a:latin typeface="Calibri"/>
              </a:rPr>
              <a:t>the reconciliation store — not the chain, not core banking alone — is the correlated source of truth. Both legs reconcile to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50292" cy="310896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22B"/>
                </a:solidFill>
                <a:latin typeface="Calibri"/>
              </a:rPr>
              <a:t>FROM ZERO TO ISSUANCE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A2B"/>
                </a:solidFill>
                <a:latin typeface="Calibri"/>
              </a:rPr>
              <a:t>Pragmatic build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543032" cy="18288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2048255"/>
            <a:ext cx="566928" cy="566928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48255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0025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A2B"/>
                </a:solidFill>
                <a:latin typeface="Calibri"/>
              </a:rPr>
              <a:t>Stand up FireFly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3172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blockchain + token connector + event streams; prove mint/transfer/burn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26079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0976" y="3099815"/>
            <a:ext cx="566928" cy="566928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099815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05409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A2B"/>
                </a:solidFill>
                <a:latin typeface="Calibri"/>
              </a:rPr>
              <a:t>Deploy CMTAT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383279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permissioned EVM; wire RuleEngine with a stub eligibility rule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77639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" y="4151376"/>
            <a:ext cx="566928" cy="566928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513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05655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A2B"/>
                </a:solidFill>
                <a:latin typeface="Calibri"/>
              </a:rPr>
              <a:t>Recon + ISO 20022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43484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idempotency store + pacs.002 finality on ONE rail (SEPA Inst sandbox)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2920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0976" y="5202936"/>
            <a:ext cx="566928" cy="566928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20293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15721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A2B"/>
                </a:solidFill>
                <a:latin typeface="Calibri"/>
              </a:rPr>
              <a:t>Escrow mint-on-finality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4864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prove exactly-once + auto-refund reversal paths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874519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37376" y="2048255"/>
            <a:ext cx="566928" cy="566928"/>
          </a:xfrm>
          <a:prstGeom prst="ellipse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2048255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0025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A2B"/>
                </a:solidFill>
                <a:latin typeface="Calibri"/>
              </a:rPr>
              <a:t>Lifecycle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33172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snapshot→coupon, barrier oracle, maturity settle (cash &amp; physical)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926079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376" y="3099815"/>
            <a:ext cx="566928" cy="566928"/>
          </a:xfrm>
          <a:prstGeom prst="ellipse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099815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305409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A2B"/>
                </a:solidFill>
                <a:latin typeface="Calibri"/>
              </a:rPr>
              <a:t>Compliance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383279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KYC/AML, Travel Rule payloads, jurisdiction gating; PII off-chain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977639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37376" y="4151376"/>
            <a:ext cx="566928" cy="566928"/>
          </a:xfrm>
          <a:prstGeom prst="ellipse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41513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4105655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A2B"/>
                </a:solidFill>
                <a:latin typeface="Calibri"/>
              </a:rPr>
              <a:t>Second jurisdiction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43484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generalize matrix into RuleEngine config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502920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37376" y="5202936"/>
            <a:ext cx="566928" cy="566928"/>
          </a:xfrm>
          <a:prstGeom prst="ellipse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520293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515721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A2B"/>
                </a:solidFill>
                <a:latin typeface="Calibri"/>
              </a:rPr>
              <a:t>Audit + legal opinion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54864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0">
                <a:solidFill>
                  <a:srgbClr val="5A6778"/>
                </a:solidFill>
                <a:latin typeface="Calibri"/>
              </a:rPr>
              <a:t>Solidity + orchestration audit, per-jurisdiction opinion before 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778"/>
                </a:solidFill>
                <a:latin typeface="Calibri"/>
              </a:rPr>
              <a:t>No warranty. Validate every control with licensed counsel and your regulators before production issuance.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82296" cy="1828800"/>
          </a:xfrm>
          <a:prstGeom prst="rect">
            <a:avLst/>
          </a:prstGeom>
          <a:solidFill>
            <a:srgbClr val="C8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Fiat in. Fiat out. TradFi both ends.</a:t>
            </a:r>
          </a:p>
          <a:p>
            <a:pPr algn="l">
              <a:lnSpc>
                <a:spcPct val="106000"/>
              </a:lnSpc>
            </a:pPr>
            <a:r>
              <a:rPr sz="2900" b="1">
                <a:solidFill>
                  <a:srgbClr val="BFD2F0"/>
                </a:solidFill>
                <a:latin typeface="Calibri"/>
              </a:rPr>
              <a:t>The DLT is the shared message bus —</a:t>
            </a:r>
          </a:p>
          <a:p>
            <a:pPr algn="l">
              <a:lnSpc>
                <a:spcPct val="106000"/>
              </a:lnSpc>
            </a:pPr>
            <a:r>
              <a:rPr sz="2900" b="1">
                <a:solidFill>
                  <a:srgbClr val="BFD2F0"/>
                </a:solidFill>
                <a:latin typeface="Calibri"/>
              </a:rPr>
              <a:t>correlation, not value transfer, is the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• Recon store = source of truth   • Idempotency = exactly-once mint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• RuleEngine gates every transfer   • PII off-chain, hashes on   • Escrow + auto-reversal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DC8"/>
                </a:solidFill>
                <a:latin typeface="Calibri"/>
              </a:rPr>
              <a:t>Full write-up, diagrams &amp; code skeletons in the companion repo &amp; gist.  Not legal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