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1148085908000" cy="54864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82296" cy="109728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8922B"/>
                </a:solidFill>
                <a:latin typeface="Calibr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0241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Instant-Payment Front-to-Back</a:t>
            </a:r>
          </a:p>
          <a:p>
            <a:pPr algn="l">
              <a:lnSpc>
                <a:spcPct val="102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Settlement Gateway for Tokenized RCNs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77639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Cash flows </a:t>
            </a:r>
            <a:r>
              <a:rPr sz="1900" b="1">
                <a:solidFill>
                  <a:srgbClr val="C8922B"/>
                </a:solidFill>
                <a:latin typeface="Calibri"/>
              </a:rPr>
              <a:t>TradFi → TradFi</a:t>
            </a:r>
            <a:r>
              <a:rPr sz="1900" b="0">
                <a:solidFill>
                  <a:srgbClr val="BFD2F0"/>
                </a:solidFill>
                <a:latin typeface="Calibri"/>
              </a:rPr>
              <a:t>.  The permissioned DLT is the shared</a:t>
            </a:r>
          </a:p>
          <a:p>
            <a:pPr algn="l">
              <a:lnSpc>
                <a:spcPct val="110000"/>
              </a:lnSpc>
            </a:pPr>
            <a:r>
              <a:rPr sz="1900" b="0">
                <a:solidFill>
                  <a:srgbClr val="BFD2F0"/>
                </a:solidFill>
                <a:latin typeface="Calibri"/>
              </a:rPr>
              <a:t>messaging / coordination layer — FireFly minting CMTAT tokens for RCNs.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DC8"/>
                </a:solidFill>
                <a:latin typeface="Calibri"/>
              </a:rPr>
              <a:t>DLT engineering · FireFly integration · cross-border settlement · multi-jurisdiction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WHAT WE TOKENIZE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instrument — Reverse Convertible Note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029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11680"/>
            <a:ext cx="4663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0F1A2B"/>
                </a:solidFill>
                <a:latin typeface="Calibri"/>
              </a:rPr>
              <a:t>RCN = </a:t>
            </a:r>
            <a:r>
              <a:rPr sz="1700" b="1">
                <a:solidFill>
                  <a:srgbClr val="2D6CDF"/>
                </a:solidFill>
                <a:latin typeface="Calibri"/>
              </a:rPr>
              <a:t>zero-coupon note</a:t>
            </a:r>
            <a:r>
              <a:rPr sz="1700" b="1">
                <a:solidFill>
                  <a:srgbClr val="0F1A2B"/>
                </a:solidFill>
                <a:latin typeface="Calibri"/>
              </a:rPr>
              <a:t>  +  </a:t>
            </a:r>
            <a:r>
              <a:rPr sz="1700" b="1">
                <a:solidFill>
                  <a:srgbClr val="119DA4"/>
                </a:solidFill>
                <a:latin typeface="Calibri"/>
              </a:rPr>
              <a:t>short put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6778"/>
                </a:solidFill>
                <a:latin typeface="Calibri"/>
              </a:rPr>
              <a:t>Above-market coupon funded by the option premium the investor implicitly sells.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50292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≥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cash redemption at par + coupon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Barrier &lt; level → </a:t>
            </a:r>
            <a:r>
              <a:rPr sz="1450" b="0">
                <a:solidFill>
                  <a:srgbClr val="5A6778"/>
                </a:solidFill>
                <a:latin typeface="Calibri"/>
              </a:rPr>
              <a:t>physical delivery of underlying, at a loss (token burned)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D6CDF"/>
                </a:solidFill>
                <a:latin typeface="Calibri"/>
              </a:rPr>
              <a:t>▸ </a:t>
            </a:r>
            <a:r>
              <a:rPr sz="1450" b="1">
                <a:solidFill>
                  <a:srgbClr val="0F1A2B"/>
                </a:solidFill>
                <a:latin typeface="Calibri"/>
              </a:rPr>
              <a:t>Variants: </a:t>
            </a:r>
            <a:r>
              <a:rPr sz="1450" b="0">
                <a:solidFill>
                  <a:srgbClr val="5A6778"/>
                </a:solidFill>
                <a:latin typeface="Calibri"/>
              </a:rPr>
              <a:t>barrier / knock-in, worst-of basket, autocallable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193792" cy="420624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A4A"/>
                </a:solidFill>
                <a:latin typeface="Calibri"/>
              </a:rPr>
              <a:t>Why classification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5176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Structured DEBT security</a:t>
            </a:r>
            <a:r>
              <a:rPr sz="1400" b="0">
                <a:solidFill>
                  <a:srgbClr val="5A6778"/>
                </a:solidFill>
                <a:latin typeface="Calibri"/>
              </a:rPr>
              <a:t> — not e-money, not a payment token.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Drives the overlay:</a:t>
            </a:r>
            <a:r>
              <a:rPr sz="1400" b="0">
                <a:solidFill>
                  <a:srgbClr val="5A6778"/>
                </a:solidFill>
                <a:latin typeface="Calibri"/>
              </a:rPr>
              <a:t> prospectus / PRIIPs KID, MiFID II product governance &amp; appropriateness.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Transfer-agent duties</a:t>
            </a:r>
            <a:r>
              <a:rPr sz="1400" b="0">
                <a:solidFill>
                  <a:srgbClr val="5A6778"/>
                </a:solidFill>
                <a:latin typeface="Calibri"/>
              </a:rPr>
              <a:t> and investor-eligibility gating apply.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2D6CDF"/>
                </a:solidFill>
                <a:latin typeface="Calibri"/>
              </a:rPr>
              <a:t>▸ </a:t>
            </a:r>
            <a:r>
              <a:rPr sz="1400" b="1">
                <a:solidFill>
                  <a:srgbClr val="0F1A2B"/>
                </a:solidFill>
                <a:latin typeface="Calibri"/>
              </a:rPr>
              <a:t>Token is the register</a:t>
            </a:r>
            <a:r>
              <a:rPr sz="1400" b="0">
                <a:solidFill>
                  <a:srgbClr val="5A6778"/>
                </a:solidFill>
                <a:latin typeface="Calibri"/>
              </a:rPr>
              <a:t> where DLT law allows (ledger-based security).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Why CMTAT + Hyperledger FireFly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0749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D6CDF"/>
                </a:solidFill>
                <a:latin typeface="Calibri"/>
              </a:rPr>
              <a:t>CMTAT</a:t>
            </a:r>
            <a:r>
              <a:rPr sz="1400" b="0">
                <a:solidFill>
                  <a:srgbClr val="5A6778"/>
                </a:solidFill>
                <a:latin typeface="Calibri"/>
              </a:rPr>
              <a:t>  security-token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61772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Mint / Burn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issue on cash finality; redeem at maturity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Pause / Enforcement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halt issuance; freeze a holder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RuleEngine (ERC-1404)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eligibility &amp; jurisdiction gating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Snapshot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holders-of-record at each coupon date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2D6CDF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Debt module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coupon schedule, maturity, credit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516636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9933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19DA4"/>
                </a:solidFill>
                <a:latin typeface="Calibri"/>
              </a:rPr>
              <a:t>FireFly</a:t>
            </a:r>
            <a:r>
              <a:rPr sz="1400" b="0">
                <a:solidFill>
                  <a:srgbClr val="5A6778"/>
                </a:solidFill>
                <a:latin typeface="Calibri"/>
              </a:rPr>
              <a:t>  orchestration supernode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606040"/>
            <a:ext cx="470916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Token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business-level mint/transfer/burn API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Blockchain connector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nonce, gas, retry,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Event streams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durable, at-least-once, checkpointed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Data exchange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PII / KID off-chain, hash on-chain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19DA4"/>
                </a:solidFill>
                <a:latin typeface="Calibri"/>
              </a:rPr>
              <a:t>▸ </a:t>
            </a:r>
            <a:r>
              <a:rPr sz="1350" b="1">
                <a:solidFill>
                  <a:srgbClr val="0F1A2B"/>
                </a:solidFill>
                <a:latin typeface="Calibri"/>
              </a:rPr>
              <a:t>Transaction manager</a:t>
            </a:r>
            <a:r>
              <a:rPr sz="1350" b="0">
                <a:solidFill>
                  <a:srgbClr val="5A6778"/>
                </a:solidFill>
                <a:latin typeface="Calibri"/>
              </a:rPr>
              <a:t> — idempotent, exactly-once mint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2A4A"/>
                </a:solidFill>
                <a:latin typeface="Calibri"/>
              </a:rPr>
              <a:t>Net: FireFly turns “cash settled with finality” into “token minted, once, to the right wallet, with the right restrictions.”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Front-to-back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74519"/>
            <a:ext cx="3383280" cy="45720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① CASH — TradFi → TradFi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07408" y="1874519"/>
            <a:ext cx="3383280" cy="457200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② GATEWAY — correlates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383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7991856" y="1874519"/>
            <a:ext cx="3383280" cy="45720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92938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Calibri"/>
              </a:rPr>
              <a:t>③ DLT — MESSAGING (no cash)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Client / Investor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fiat in ↓   ·   fiat out 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IN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subscribe — SEPA Inst · FedNow · RTP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Settlement / Paying Bank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escrow · client-money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Instant Rail OUT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coupon · redemption par → client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Payment Gateway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ISO 20022 ingestion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4568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7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Recon &amp; Idempotency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source of truth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44568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36007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Compliance Engine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KYC/AML · Travel Rule · eligibility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7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FireFly Orchestrator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/ transfer / burn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29016" y="2560320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2633472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CMTAT RCN Token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shared golden record + message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3310128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0456" y="3383280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Authoritative Register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ledger-based security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29016" y="4059936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4133088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Investor Wallet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whitelisted · custodial / MPC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9016" y="4809744"/>
            <a:ext cx="3108960" cy="658368"/>
          </a:xfrm>
          <a:prstGeom prst="roundRect">
            <a:avLst/>
          </a:prstGeom>
          <a:solidFill>
            <a:srgbClr val="F6F8FB"/>
          </a:solidFill>
          <a:ln w="15875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0456" y="4882896"/>
            <a:ext cx="29260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A2B"/>
                </a:solidFill>
                <a:latin typeface="Calibri"/>
              </a:rPr>
              <a:t>Coordination Events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778"/>
                </a:solidFill>
                <a:latin typeface="Calibri"/>
              </a:rPr>
              <a:t>mint · snapshot · burn → payout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NO ON-CHAIN VALUE LEG TO MAKE ATOMIC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The coordination problem — the actual hard part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6778"/>
                </a:solidFill>
                <a:latin typeface="Calibri"/>
              </a:rPr>
              <a:t>Cash stays in TradFi; the DLT only messages. So the problem isn’t atomic value transfer — it’s correlating an off-chain cash event to an on-chain message, exactly once, with a safe reversal.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3032" cy="38404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86584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86584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38658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TRADE-OFF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15768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715768"/>
            <a:ext cx="82296" cy="7863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Naïve sequential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07208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Cash finality → then message (mint)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07208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Window of “cash taken, note not recorded.” Must reconcile + reverse.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502151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502151"/>
            <a:ext cx="82296" cy="78638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593591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+ msg-on-finality  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593591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held; mint only on confirmed finality; auto-refund on timeout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593591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Strong client protection; needs safeguarded account. Recommended.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88536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88536"/>
            <a:ext cx="82296" cy="78638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Escrow release gated on mint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79975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Escrow → issuer only AFTER on-chain mint event observed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379975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Kills both races: minted-but-cash-lost and cash-released-but-not-minted.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43032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074920"/>
            <a:ext cx="82296" cy="786384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166359"/>
            <a:ext cx="2514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Optional on-chain DvP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5166359"/>
            <a:ext cx="3840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Tokenized deposit on same ledger, where law permits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5166359"/>
            <a:ext cx="37490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Cleanest atomicity — but pulls money on-chain, against the TradFi→TradFi goal.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34456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Recommended: </a:t>
            </a:r>
            <a:r>
              <a:rPr sz="1300" b="0">
                <a:solidFill>
                  <a:srgbClr val="0F1A2B"/>
                </a:solidFill>
                <a:latin typeface="Calibri"/>
              </a:rPr>
              <a:t>escrow + message-on-finality, escrow release gated on the mint event, idempotent reconciliation as source of truth. No value on-chain = tiny failure surface.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EXACTLY-ONCE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Payment → mint sequence (escrow, idempotent)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035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Settlement
Bank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0321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88536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8536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Payment
Gateway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0289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18504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Recon /
Idempotency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90257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48471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8471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FireFly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0225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78439" y="1645920"/>
            <a:ext cx="1554480" cy="45720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39" y="1673352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CMTAT
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50193" y="2148840"/>
            <a:ext cx="10972" cy="3794760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1005840" y="2468880"/>
            <a:ext cx="2029968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57783" y="21762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instant credit transfer (pacs.008)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35808" y="2880360"/>
            <a:ext cx="2029967" cy="0"/>
          </a:xfrm>
          <a:prstGeom prst="bentConnector3">
            <a:avLst/>
          </a:prstGeom>
          <a:ln w="1778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587751" y="25877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pacs.002 ACSC — settlement finality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65775" y="3291840"/>
            <a:ext cx="2029969" cy="0"/>
          </a:xfrm>
          <a:prstGeom prst="bentConnector3">
            <a:avLst/>
          </a:prstGeom>
          <a:ln w="1778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617719" y="299923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0F1A2B"/>
                </a:solidFill>
                <a:latin typeface="Calibri"/>
              </a:rPr>
              <a:t>record(subscriptionId, amount)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8504" y="35204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A6778"/>
                </a:solidFill>
                <a:latin typeface="Calibri"/>
              </a:rPr>
              <a:t>idempotency check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95744" y="3977639"/>
            <a:ext cx="2029967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647688" y="368503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mintRequest [operationId = subscriptionId]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25711" y="4389120"/>
            <a:ext cx="2029968" cy="0"/>
          </a:xfrm>
          <a:prstGeom prst="bentConnector3">
            <a:avLst/>
          </a:prstGeom>
          <a:ln w="1778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677655" y="4096511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D6CDF"/>
                </a:solidFill>
                <a:latin typeface="Calibri"/>
              </a:rPr>
              <a:t>mint(wallet, units)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25711" y="4800600"/>
            <a:ext cx="2029968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77655" y="450799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 event + receipt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095744" y="5212080"/>
            <a:ext cx="2029967" cy="0"/>
          </a:xfrm>
          <a:prstGeom prst="bentConnector3">
            <a:avLst/>
          </a:prstGeom>
          <a:ln w="17780">
            <a:prstDash val="dash"/>
            <a:solidFill>
              <a:srgbClr val="119DA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647688" y="491947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19DA4"/>
                </a:solidFill>
                <a:latin typeface="Calibri"/>
              </a:rPr>
              <a:t>minted(subscriptionId, txHash)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35808" y="5623560"/>
            <a:ext cx="4059936" cy="0"/>
          </a:xfrm>
          <a:prstGeom prst="bentConnector3">
            <a:avLst/>
          </a:prstGeom>
          <a:ln w="17780">
            <a:solidFill>
              <a:srgbClr val="C892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602736" y="53309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8922B"/>
                </a:solidFill>
                <a:latin typeface="Calibri"/>
              </a:rPr>
              <a:t>release escrow to issuer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44768"/>
            <a:ext cx="10543032" cy="457200"/>
          </a:xfrm>
          <a:prstGeom prst="roundRect">
            <a:avLst/>
          </a:prstGeom>
          <a:solidFill>
            <a:srgbClr val="EEF3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6217920"/>
            <a:ext cx="10149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42A4A"/>
                </a:solidFill>
                <a:latin typeface="Calibri"/>
              </a:rPr>
              <a:t>Idempotency key = ISO 20022 end-to-end id = FireFly operationId → re-delivered payment events never double-mint. On reject/timeout → auto-refund escrow.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TOKEN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CMTAT ↔ RCN lifecycle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291840"/>
            <a:ext cx="13716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46704"/>
            <a:ext cx="1371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Subscribed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291840"/>
            <a:ext cx="1554480" cy="621792"/>
          </a:xfrm>
          <a:prstGeom prst="roundRect">
            <a:avLst/>
          </a:prstGeom>
          <a:solidFill>
            <a:srgbClr val="EEF3FB"/>
          </a:solidFill>
          <a:ln w="19050">
            <a:solidFill>
              <a:srgbClr val="2D6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Active (in issue)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3602736"/>
            <a:ext cx="640080" cy="0"/>
          </a:xfrm>
          <a:prstGeom prst="bentConnector3">
            <a:avLst/>
          </a:prstGeom>
          <a:ln w="20320">
            <a:solidFill>
              <a:srgbClr val="2D6CDF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88719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2D6CDF"/>
                </a:solidFill>
                <a:latin typeface="Calibri"/>
              </a:rPr>
              <a:t>mint()</a:t>
            </a:r>
          </a:p>
        </p:txBody>
      </p:sp>
      <p:sp>
        <p:nvSpPr>
          <p:cNvPr id="14" name="Diamond 13"/>
          <p:cNvSpPr/>
          <p:nvPr/>
        </p:nvSpPr>
        <p:spPr>
          <a:xfrm>
            <a:off x="5989320" y="3246120"/>
            <a:ext cx="822960" cy="822960"/>
          </a:xfrm>
          <a:prstGeom prst="diamond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4114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8922B"/>
                </a:solidFill>
                <a:latin typeface="Calibri"/>
              </a:rPr>
              <a:t>barrier?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434840" y="3602736"/>
            <a:ext cx="1554480" cy="54864"/>
          </a:xfrm>
          <a:prstGeom prst="bentConnector3">
            <a:avLst/>
          </a:prstGeom>
          <a:ln w="20320">
            <a:solidFill>
              <a:srgbClr val="0F1A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840479" y="3319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F1A2B"/>
                </a:solidFill>
                <a:latin typeface="Calibri"/>
              </a:rPr>
              <a:t>maturity / autocall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51460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256946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Redeemed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206240"/>
            <a:ext cx="182880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4261103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Settled (physical)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812280" y="2880360"/>
            <a:ext cx="502920" cy="64008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9214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OK → burn + par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12280" y="3794760"/>
            <a:ext cx="502920" cy="640080"/>
          </a:xfrm>
          <a:prstGeom prst="bentConnector3">
            <a:avLst/>
          </a:prstGeom>
          <a:ln w="20320">
            <a:solidFill>
              <a:srgbClr val="C8922B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92140" y="38039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8922B"/>
                </a:solidFill>
                <a:latin typeface="Calibri"/>
              </a:rPr>
              <a:t>breached → deliver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251460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0" y="256946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0" y="4206240"/>
            <a:ext cx="1554480" cy="621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4261103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End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82549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44000" y="4517136"/>
            <a:ext cx="914400" cy="0"/>
          </a:xfrm>
          <a:prstGeom prst="bentConnector3">
            <a:avLst/>
          </a:prstGeom>
          <a:ln w="20320">
            <a:solidFill>
              <a:srgbClr val="5A677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5212080"/>
            <a:ext cx="1554480" cy="621792"/>
          </a:xfrm>
          <a:prstGeom prst="roundRect">
            <a:avLst/>
          </a:prstGeom>
          <a:solidFill>
            <a:srgbClr val="EBF6F6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360" y="52669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CouponRecord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57600" y="3913632"/>
            <a:ext cx="0" cy="1298448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286000" y="4251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snapshot() @ record date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377440" y="5394960"/>
            <a:ext cx="502920" cy="0"/>
          </a:xfrm>
          <a:prstGeom prst="bentConnector3">
            <a:avLst/>
          </a:prstGeom>
          <a:ln w="20320"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377440" y="3703320"/>
            <a:ext cx="0" cy="1691640"/>
          </a:xfrm>
          <a:prstGeom prst="bentConnector3">
            <a:avLst/>
          </a:prstGeom>
          <a:ln w="20320">
            <a:prstDash val="dash"/>
            <a:solidFill>
              <a:srgbClr val="119DA4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5840" y="42382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19DA4"/>
                </a:solidFill>
                <a:latin typeface="Calibri"/>
              </a:rPr>
              <a:t>coupon paid on fiat 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80360" y="1691640"/>
            <a:ext cx="1554480" cy="621792"/>
          </a:xfrm>
          <a:prstGeom prst="roundRect">
            <a:avLst/>
          </a:prstGeom>
          <a:solidFill>
            <a:srgbClr val="FBEEEE"/>
          </a:solidFill>
          <a:ln w="19050">
            <a:solidFill>
              <a:srgbClr val="C0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80360" y="174650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A2B"/>
                </a:solidFill>
                <a:latin typeface="Calibri"/>
              </a:rPr>
              <a:t>Frozen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3657600" y="2313432"/>
            <a:ext cx="0" cy="978408"/>
          </a:xfrm>
          <a:prstGeom prst="bentConnector3">
            <a:avLst/>
          </a:prstGeom>
          <a:ln w="20320">
            <a:solidFill>
              <a:srgbClr val="C03A3A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286000" y="24917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C03A3A"/>
                </a:solidFill>
                <a:latin typeface="Calibri"/>
              </a:rPr>
              <a:t>freeze(holder)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6236208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F1A2B"/>
                </a:solidFill>
                <a:latin typeface="Calibri"/>
              </a:rPr>
              <a:t>Three ways out of Active: </a:t>
            </a:r>
            <a:r>
              <a:rPr sz="1150" b="0">
                <a:solidFill>
                  <a:srgbClr val="5A6778"/>
                </a:solidFill>
                <a:latin typeface="Calibri"/>
              </a:rPr>
              <a:t>recurring coupon cycle · involuntary Frozen hold (sanctions/court) · terminal Exit where the barrier routes to cash vs physical.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WHERE CROSS-BORDER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Multi-jurisdiction compliance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874519"/>
            <a:ext cx="1737360" cy="749808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🇨🇭 Switzerland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1454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1454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🇪🇺 EU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2588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2588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🇬🇧 UK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43723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3723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🇸🇬 Singapore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4857" y="1874519"/>
            <a:ext cx="1761134" cy="74980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4857" y="2002536"/>
            <a:ext cx="1761134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🇺🇸 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624327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715768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Instant rail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5184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SIC / SEPA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1454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6318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SEPA Inst · TIPS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2588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37452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Faster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43723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8587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FAST · PayNow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4857" y="2624327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9721" y="2697479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FedNow · RTP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374135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465575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Legal basis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60320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15184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DLT Act (CO 973d)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1454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76318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MiCA + MiFID II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2588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37452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FSMA · DSS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43723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8587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SFA · PS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4857" y="3374135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9721" y="3447287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Securities 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4123944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4215383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Disclosure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60320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15184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FIDLEG KID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1454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6318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PRIIPs + Prospectus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82588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37452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UK PRIIPs · Duty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43723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98587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Product sheet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04857" y="4123944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59721" y="4197096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Reg S / 144A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873752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4965192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Investor gate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60320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15184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Qualified/retail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1454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6318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MiFID categories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82588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37452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FCA categorisation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43723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8587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Accredited/instl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4857" y="4873752"/>
            <a:ext cx="1761134" cy="74980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59721" y="4946904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Accredited/QIB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623560"/>
            <a:ext cx="1737360" cy="749808"/>
          </a:xfrm>
          <a:prstGeom prst="rect">
            <a:avLst/>
          </a:prstGeom>
          <a:solidFill>
            <a:srgbClr val="23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715000"/>
            <a:ext cx="1554480" cy="5669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AML / Travel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560320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15184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321454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6318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AMLD · TFR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082588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37452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MLR 2017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43723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898587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MAS Notice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604857" y="5623560"/>
            <a:ext cx="176113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59721" y="5696712"/>
            <a:ext cx="1651406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>
                <a:solidFill>
                  <a:srgbClr val="0F1A2B"/>
                </a:solidFill>
                <a:latin typeface="Calibri"/>
              </a:rPr>
              <a:t>BSA / FinCEN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483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C8922B"/>
                </a:solidFill>
                <a:latin typeface="Calibri"/>
              </a:rPr>
              <a:t>Enforced in the RuleEngine, not the UI: </a:t>
            </a:r>
            <a:r>
              <a:rPr sz="1250" b="0">
                <a:solidFill>
                  <a:srgbClr val="0F1A2B"/>
                </a:solidFill>
                <a:latin typeface="Calibri"/>
              </a:rPr>
              <a:t>wallet jurisdiction is checked on every transfer · Travel-Rule payloads off-chain (IVMS-101) · PII hashes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21208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Two thin layers — token + orchestrator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17904"/>
            <a:ext cx="10543032" cy="18288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402336"/>
          </a:xfrm>
          <a:prstGeom prst="round2Same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RCNToken.sol  (extends CMTAT)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thin: lifecycle DRIVEN by FireFly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mintOnSettlement(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bytes32 subId, address to,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onlyRole(ISSUER_ROLE)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// RuleEngine must pass: eligible+juris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_mint(to, u);  emit Minted(subId,to,u);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observeBarrier(uint256 lvlBps)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onlyRole(ORACLE_ROLE) { 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(lvlBps &lt; barrierBps) breached=true; }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function settle(address h, uint256 u)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onlyRole(SETTLEMENT_ROLE) 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bool physical = breached; _burn(h,u); 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828800"/>
            <a:ext cx="5120640" cy="4297680"/>
          </a:xfrm>
          <a:prstGeom prst="roundRect">
            <a:avLst/>
          </a:prstGeom>
          <a:solidFill>
            <a:srgbClr val="0A121F"/>
          </a:solidFill>
          <a:ln w="1270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45352" y="1828800"/>
            <a:ext cx="5120640" cy="402336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83664"/>
            <a:ext cx="47548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orchestrator.ts  (FireFly SDK)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2377440"/>
            <a:ext cx="480974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// idempotent on subscriptionId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C8922B"/>
                </a:solidFill>
                <a:latin typeface="Consolas"/>
              </a:rPr>
              <a:t>async function onPaymentFinality(e){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(await alreadyMinted(e.subId))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return;              // dedupe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const ok = await compliance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.check(e.wallet, 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if (!ok) return refundEscrow(e.subId);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await firefly.mintTokens(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{ pool: POOL, to: e.wallet,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      amount: e.units },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{ requestId: e.subId,      // idem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5F8AC0"/>
                </a:solidFill>
                <a:latin typeface="Consolas"/>
              </a:rPr>
              <a:t>      confirm: true });   // wait final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D7E1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FAILURE-FIRST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Reliability &amp; threat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6CDF"/>
                </a:solidFill>
                <a:latin typeface="Calibri"/>
              </a:rPr>
              <a:t>Failure handling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6032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event lost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durable FireFly stream + re-drive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Duplicate event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idempotency key, exactly-once mint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Cash settled, mint reverts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auto-refund escrow, no partial state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reorg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confirm:true, only finalized receipts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dispute at barrier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signed feed + Pause if systemic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5239512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03A3A"/>
                </a:solidFill>
                <a:latin typeface="Calibri"/>
              </a:rPr>
              <a:t>Threats →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47548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ISSUER_ROLE key compromise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HSM/MPC, multisig, per-op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Oracle manipulation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multi-source signed feed, dispute window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Payment replay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end-to-end idempotency key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Eligibility bypass on resale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RuleEngine gates every transfer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PII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hashes only, private data exchange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C03A3A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 S → US-person leakage</a:t>
            </a:r>
            <a:r>
              <a:rPr sz="1300" b="0">
                <a:solidFill>
                  <a:srgbClr val="5A6778"/>
                </a:solidFill>
                <a:latin typeface="Calibri"/>
              </a:rPr>
              <a:t> → jurisdiction attr enforced on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Invariant: </a:t>
            </a:r>
            <a:r>
              <a:rPr sz="1300" b="0">
                <a:solidFill>
                  <a:srgbClr val="0F1A2B"/>
                </a:solidFill>
                <a:latin typeface="Calibri"/>
              </a:rPr>
              <a:t>the reconciliation store — not the chain, not core banking alone — is the correlated source of truth. Both legs reconcile to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FROM ZERO TO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Pragmatic build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50976" y="204825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Stand up FireFly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blockchain + token connector + event streams; prove mint/transfer/burn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0976" y="3099815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Deploy CMTAT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permissioned EVM; wire RuleEngine with a stub eligibility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" y="415137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Recon + ISO 20022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idempotency store + pacs.002 finality on ONE rail (SEPA Inst sandbox)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976" y="5202936"/>
            <a:ext cx="566928" cy="566928"/>
          </a:xfrm>
          <a:prstGeom prst="ellipse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Escrow mint-on-finality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prove exactly-once + auto-refund reversal paths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87451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04825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002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Lifecycle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3172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snapshot→coupon, barrier oracle, maturity settle (cash &amp; physical)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92607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37376" y="3099815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3099815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3054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Compliance layer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383279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KYC/AML, Travel Rule payloads, jurisdiction gating; PII off-chain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977639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415137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415137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4105655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Second jurisdiction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43484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generalize matrix into RuleEngine config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9360" y="5029200"/>
            <a:ext cx="52578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37376" y="5202936"/>
            <a:ext cx="566928" cy="566928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37376" y="520293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515721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0F1A2B"/>
                </a:solidFill>
                <a:latin typeface="Calibri"/>
              </a:rPr>
              <a:t>Audit + legal opinion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5486400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Solidity + orchestration audit, per-jurisdiction opinion before 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778"/>
                </a:solidFill>
                <a:latin typeface="Calibri"/>
              </a:rPr>
              <a:t>No warranty. Validate every control with licensed counsel and your regulators before production issuance.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85216"/>
            <a:ext cx="50292" cy="310896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PICK ONE PER ISSUANCE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A2B"/>
                </a:solidFill>
                <a:latin typeface="Calibri"/>
              </a:rPr>
              <a:t>Design fork — is the token the register, or just the message?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572768"/>
            <a:ext cx="10543032" cy="18288"/>
          </a:xfrm>
          <a:prstGeom prst="rect">
            <a:avLst/>
          </a:prstGeom>
          <a:solidFill>
            <a:srgbClr val="D9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A6778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822960" y="1828800"/>
            <a:ext cx="5120640" cy="502920"/>
          </a:xfrm>
          <a:prstGeom prst="round2Same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 · Token IS the register</a:t>
            </a:r>
            <a:r>
              <a:rPr sz="1100" b="0">
                <a:solidFill>
                  <a:srgbClr val="BFD2F0"/>
                </a:solidFill>
                <a:latin typeface="Calibri"/>
              </a:rPr>
              <a:t>   (ledger-based security)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66344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Legal title lives on-chain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transfer = change of title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CH, EU Pilot, DE eWpG, LU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Minimal reconciliation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the chain IS the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Reach limited</a:t>
            </a:r>
            <a:r>
              <a:rPr sz="1300" b="0">
                <a:solidFill>
                  <a:srgbClr val="5A6778"/>
                </a:solidFill>
                <a:latin typeface="Calibri"/>
              </a:rPr>
              <a:t> to recognising jurisdictions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6CDF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single friendly jurisdiction, full DLT-native finality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239512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19D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126480" y="1828800"/>
            <a:ext cx="5239512" cy="502920"/>
          </a:xfrm>
          <a:prstGeom prst="round2Same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019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B · Token is only the message</a:t>
            </a:r>
            <a:r>
              <a:rPr sz="1100" b="1">
                <a:solidFill>
                  <a:srgbClr val="FFFFFF"/>
                </a:solidFill>
                <a:latin typeface="Calibri"/>
              </a:rPr>
              <a:t>   ✅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514600"/>
            <a:ext cx="480060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Register stays at transfer agent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TA book = legal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Needs no DLT securities law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deploy anywhere, US in scope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Chain ↔ TA book reconcile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chain = operational truth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Broad cross-border reach</a:t>
            </a:r>
            <a:r>
              <a:rPr sz="1300" b="0">
                <a:solidFill>
                  <a:srgbClr val="5A6778"/>
                </a:solidFill>
                <a:latin typeface="Calibri"/>
              </a:rPr>
              <a:t> — conventional security everywhere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119DA4"/>
                </a:solidFill>
                <a:latin typeface="Calibri"/>
              </a:rPr>
              <a:t>▸ </a:t>
            </a:r>
            <a:r>
              <a:rPr sz="1300" b="1">
                <a:solidFill>
                  <a:srgbClr val="0F1A2B"/>
                </a:solidFill>
                <a:latin typeface="Calibri"/>
              </a:rPr>
              <a:t>Best:</a:t>
            </a:r>
            <a:r>
              <a:rPr sz="1300" b="0">
                <a:solidFill>
                  <a:srgbClr val="5A6778"/>
                </a:solidFill>
                <a:latin typeface="Calibri"/>
              </a:rPr>
              <a:t> multi-jurisdiction rollout, minimise legal novelty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8922B"/>
                </a:solidFill>
                <a:latin typeface="Calibri"/>
              </a:rPr>
              <a:t>Code &amp; FireFly orchestration are identical. </a:t>
            </a:r>
            <a:r>
              <a:rPr sz="1300" b="0">
                <a:solidFill>
                  <a:srgbClr val="0F1A2B"/>
                </a:solidFill>
                <a:latin typeface="Calibri"/>
              </a:rPr>
              <a:t>Only the legal wrapper, reconciliation duty, and the “legal basis” matrix row change. For a cross-border TradFi→TradFi build, B is the natural default; reserve A for a Swiss-law (or EU-Pilot) issuance wanting on-chain title finality.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6270955200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82296" cy="1828800"/>
          </a:xfrm>
          <a:prstGeom prst="rect">
            <a:avLst/>
          </a:prstGeom>
          <a:solidFill>
            <a:srgbClr val="C8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Fiat in. Fiat out. TradFi both ends.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The DLT is the shared message bus —</a:t>
            </a:r>
          </a:p>
          <a:p>
            <a:pPr algn="l">
              <a:lnSpc>
                <a:spcPct val="106000"/>
              </a:lnSpc>
            </a:pPr>
            <a:r>
              <a:rPr sz="2900" b="1">
                <a:solidFill>
                  <a:srgbClr val="BFD2F0"/>
                </a:solidFill>
                <a:latin typeface="Calibri"/>
              </a:rPr>
              <a:t>correlation, not value transfer, is the architecture.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Recon store = source of truth   • Idempotency = exactly-once mint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• RuleEngine gates every transfer   • PII off-chain, hashes on   • Escrow + auto-reversal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9AADC8"/>
                </a:solidFill>
                <a:latin typeface="Calibri"/>
              </a:rPr>
              <a:t>Full write-up, diagrams &amp; code skeletons in the companion repo &amp; gist.  Not legal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