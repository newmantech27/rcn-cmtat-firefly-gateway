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48085908000" cy="6270955200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1148085908000" cy="54864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371600"/>
            <a:ext cx="82296" cy="1097280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34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8922B"/>
                </a:solidFill>
                <a:latin typeface="Calibri"/>
              </a:rPr>
              <a:t>REFERENCE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10241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>
                <a:solidFill>
                  <a:srgbClr val="FFFFFF"/>
                </a:solidFill>
                <a:latin typeface="Calibri"/>
              </a:rPr>
              <a:t>Instant-Payment Front-to-Back</a:t>
            </a:r>
          </a:p>
          <a:p>
            <a:pPr algn="l">
              <a:lnSpc>
                <a:spcPct val="102000"/>
              </a:lnSpc>
            </a:pPr>
            <a:r>
              <a:rPr sz="4200" b="1">
                <a:solidFill>
                  <a:srgbClr val="FFFFFF"/>
                </a:solidFill>
                <a:latin typeface="Calibri"/>
              </a:rPr>
              <a:t>Settlement Gateway for Tokenized RCNs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977639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BFD2F0"/>
                </a:solidFill>
                <a:latin typeface="Calibri"/>
              </a:rPr>
              <a:t>TradFi instant rails  →  Hyperledger FireFly orchestrator  →  CMTAT tokens</a:t>
            </a:r>
          </a:p>
          <a:p>
            <a:pPr algn="l">
              <a:lnSpc>
                <a:spcPct val="110000"/>
              </a:lnSpc>
            </a:pPr>
            <a:r>
              <a:rPr sz="1900" b="0">
                <a:solidFill>
                  <a:srgbClr val="BFD2F0"/>
                </a:solidFill>
                <a:latin typeface="Calibri"/>
              </a:rPr>
              <a:t>representing Reverse Convertible Notes, cross-border &amp; multi-jurisdiction.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AADC8"/>
                </a:solidFill>
                <a:latin typeface="Calibri"/>
              </a:rPr>
              <a:t>DLT engineering · FireFly integration · cross-border settlement · multi-jurisdiction compliance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WHAT WE TOKENIZE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The instrument — Reverse Convertible 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74519"/>
            <a:ext cx="50292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11680"/>
            <a:ext cx="4663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0F1A2B"/>
                </a:solidFill>
                <a:latin typeface="Calibri"/>
              </a:rPr>
              <a:t>RCN = </a:t>
            </a:r>
            <a:r>
              <a:rPr sz="1700" b="1">
                <a:solidFill>
                  <a:srgbClr val="2D6CDF"/>
                </a:solidFill>
                <a:latin typeface="Calibri"/>
              </a:rPr>
              <a:t>zero-coupon note</a:t>
            </a:r>
            <a:r>
              <a:rPr sz="1700" b="1">
                <a:solidFill>
                  <a:srgbClr val="0F1A2B"/>
                </a:solidFill>
                <a:latin typeface="Calibri"/>
              </a:rPr>
              <a:t>  +  </a:t>
            </a:r>
            <a:r>
              <a:rPr sz="1700" b="1">
                <a:solidFill>
                  <a:srgbClr val="119DA4"/>
                </a:solidFill>
                <a:latin typeface="Calibri"/>
              </a:rPr>
              <a:t>short put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6778"/>
                </a:solidFill>
                <a:latin typeface="Calibri"/>
              </a:rPr>
              <a:t>Above-market coupon funded by the option premium the investor implicitly sells.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00400"/>
            <a:ext cx="50292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2D6CDF"/>
                </a:solidFill>
                <a:latin typeface="Calibri"/>
              </a:rPr>
              <a:t>▸ </a:t>
            </a:r>
            <a:r>
              <a:rPr sz="1450" b="1">
                <a:solidFill>
                  <a:srgbClr val="0F1A2B"/>
                </a:solidFill>
                <a:latin typeface="Calibri"/>
              </a:rPr>
              <a:t>Barrier ≥ level → </a:t>
            </a:r>
            <a:r>
              <a:rPr sz="1450" b="0">
                <a:solidFill>
                  <a:srgbClr val="5A6778"/>
                </a:solidFill>
                <a:latin typeface="Calibri"/>
              </a:rPr>
              <a:t>cash redemption at par + coupon (token burned)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2D6CDF"/>
                </a:solidFill>
                <a:latin typeface="Calibri"/>
              </a:rPr>
              <a:t>▸ </a:t>
            </a:r>
            <a:r>
              <a:rPr sz="1450" b="1">
                <a:solidFill>
                  <a:srgbClr val="0F1A2B"/>
                </a:solidFill>
                <a:latin typeface="Calibri"/>
              </a:rPr>
              <a:t>Barrier &lt; level → </a:t>
            </a:r>
            <a:r>
              <a:rPr sz="1450" b="0">
                <a:solidFill>
                  <a:srgbClr val="5A6778"/>
                </a:solidFill>
                <a:latin typeface="Calibri"/>
              </a:rPr>
              <a:t>physical delivery of underlying, at a loss (token burned)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2D6CDF"/>
                </a:solidFill>
                <a:latin typeface="Calibri"/>
              </a:rPr>
              <a:t>▸ </a:t>
            </a:r>
            <a:r>
              <a:rPr sz="1450" b="1">
                <a:solidFill>
                  <a:srgbClr val="0F1A2B"/>
                </a:solidFill>
                <a:latin typeface="Calibri"/>
              </a:rPr>
              <a:t>Variants: </a:t>
            </a:r>
            <a:r>
              <a:rPr sz="1450" b="0">
                <a:solidFill>
                  <a:srgbClr val="5A6778"/>
                </a:solidFill>
                <a:latin typeface="Calibri"/>
              </a:rPr>
              <a:t>barrier / knock-in, worst-of basket, autocallable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874519"/>
            <a:ext cx="5193792" cy="4206240"/>
          </a:xfrm>
          <a:prstGeom prst="roundRect">
            <a:avLst/>
          </a:prstGeom>
          <a:solidFill>
            <a:srgbClr val="EEF3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0574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A4A"/>
                </a:solidFill>
                <a:latin typeface="Calibri"/>
              </a:rPr>
              <a:t>Why classification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651760"/>
            <a:ext cx="466344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2D6CDF"/>
                </a:solidFill>
                <a:latin typeface="Calibri"/>
              </a:rPr>
              <a:t>▸ </a:t>
            </a:r>
            <a:r>
              <a:rPr sz="1400" b="1">
                <a:solidFill>
                  <a:srgbClr val="0F1A2B"/>
                </a:solidFill>
                <a:latin typeface="Calibri"/>
              </a:rPr>
              <a:t>Structured DEBT security</a:t>
            </a:r>
            <a:r>
              <a:rPr sz="1400" b="0">
                <a:solidFill>
                  <a:srgbClr val="5A6778"/>
                </a:solidFill>
                <a:latin typeface="Calibri"/>
              </a:rPr>
              <a:t> — not e-money, not a payment token.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2D6CDF"/>
                </a:solidFill>
                <a:latin typeface="Calibri"/>
              </a:rPr>
              <a:t>▸ </a:t>
            </a:r>
            <a:r>
              <a:rPr sz="1400" b="1">
                <a:solidFill>
                  <a:srgbClr val="0F1A2B"/>
                </a:solidFill>
                <a:latin typeface="Calibri"/>
              </a:rPr>
              <a:t>Drives the overlay:</a:t>
            </a:r>
            <a:r>
              <a:rPr sz="1400" b="0">
                <a:solidFill>
                  <a:srgbClr val="5A6778"/>
                </a:solidFill>
                <a:latin typeface="Calibri"/>
              </a:rPr>
              <a:t> prospectus / PRIIPs KID, MiFID II product governance &amp; appropriateness.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2D6CDF"/>
                </a:solidFill>
                <a:latin typeface="Calibri"/>
              </a:rPr>
              <a:t>▸ </a:t>
            </a:r>
            <a:r>
              <a:rPr sz="1400" b="1">
                <a:solidFill>
                  <a:srgbClr val="0F1A2B"/>
                </a:solidFill>
                <a:latin typeface="Calibri"/>
              </a:rPr>
              <a:t>Transfer-agent duties</a:t>
            </a:r>
            <a:r>
              <a:rPr sz="1400" b="0">
                <a:solidFill>
                  <a:srgbClr val="5A6778"/>
                </a:solidFill>
                <a:latin typeface="Calibri"/>
              </a:rPr>
              <a:t> and investor-eligibility gating apply.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2D6CDF"/>
                </a:solidFill>
                <a:latin typeface="Calibri"/>
              </a:rPr>
              <a:t>▸ </a:t>
            </a:r>
            <a:r>
              <a:rPr sz="1400" b="1">
                <a:solidFill>
                  <a:srgbClr val="0F1A2B"/>
                </a:solidFill>
                <a:latin typeface="Calibri"/>
              </a:rPr>
              <a:t>Token is the register</a:t>
            </a:r>
            <a:r>
              <a:rPr sz="1400" b="0">
                <a:solidFill>
                  <a:srgbClr val="5A6778"/>
                </a:solidFill>
                <a:latin typeface="Calibri"/>
              </a:rPr>
              <a:t> where DLT law allows (ledger-based security).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BUILDING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Why CMTAT + Hyperledger FireFly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0749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9339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2D6CDF"/>
                </a:solidFill>
                <a:latin typeface="Calibri"/>
              </a:rPr>
              <a:t>CMTAT</a:t>
            </a:r>
            <a:r>
              <a:rPr sz="1400" b="0">
                <a:solidFill>
                  <a:srgbClr val="5A6778"/>
                </a:solidFill>
                <a:latin typeface="Calibri"/>
              </a:rPr>
              <a:t>  security-token framework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61772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2D6CDF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Mint / Burn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issue on cash finality; redeem at maturity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2D6CDF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Pause / Enforcement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halt issuance; freeze a holder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2D6CDF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RuleEngine (ERC-1404)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eligibility &amp; jurisdiction gating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2D6CDF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Snapshot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holders-of-record at each coupon date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2D6CDF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Debt module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coupon schedule, maturity, credit events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828800"/>
            <a:ext cx="516636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99339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19DA4"/>
                </a:solidFill>
                <a:latin typeface="Calibri"/>
              </a:rPr>
              <a:t>FireFly</a:t>
            </a:r>
            <a:r>
              <a:rPr sz="1400" b="0">
                <a:solidFill>
                  <a:srgbClr val="5A6778"/>
                </a:solidFill>
                <a:latin typeface="Calibri"/>
              </a:rPr>
              <a:t>  orchestration supernode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2606040"/>
            <a:ext cx="470916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19DA4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Token connector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business-level mint/transfer/burn API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19DA4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Blockchain connector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nonce, gas, retry, receipts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19DA4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Event streams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durable, at-least-once, checkpointed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19DA4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Data exchange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PII / KID off-chain, hash on-chain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19DA4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Transaction manager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idempotent, exactly-once mint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2A4A"/>
                </a:solidFill>
                <a:latin typeface="Calibri"/>
              </a:rPr>
              <a:t>Net: FireFly turns “cash settled with finality” into “token minted, once, to the right wallet, with the right restrictions.”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HOW IT FITS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Front-to-back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74519"/>
            <a:ext cx="33832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 Same Side Corner Rectangle 8"/>
          <p:cNvSpPr/>
          <p:nvPr/>
        </p:nvSpPr>
        <p:spPr>
          <a:xfrm>
            <a:off x="822960" y="1874519"/>
            <a:ext cx="3383280" cy="457200"/>
          </a:xfrm>
          <a:prstGeom prst="round2Same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29384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Calibri"/>
              </a:rPr>
              <a:t>TradFi INSTANT-PAYMENT DOMAIN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1874519"/>
            <a:ext cx="33832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4407408" y="1874519"/>
            <a:ext cx="3383280" cy="457200"/>
          </a:xfrm>
          <a:prstGeom prst="round2Same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7408" y="1929384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Calibri"/>
              </a:rPr>
              <a:t>GATEWAY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874519"/>
            <a:ext cx="33832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7991856" y="1874519"/>
            <a:ext cx="3383280" cy="457200"/>
          </a:xfrm>
          <a:prstGeom prst="round2Same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91856" y="1929384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Calibri"/>
              </a:rPr>
              <a:t>PERMISSIONED DLT DOMAIN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" y="2560320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633472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Client / Investor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pays on instant rail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0120" y="3310128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383280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Instant Rail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SEPA Inst · TIPS · FedNow · RTP · FPS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4059936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133088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Settlement / Paying Bank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scheme participant · escrow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0120" y="4809744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4882896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Core Banking Ledger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ISO 20022 pacs.002 finality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44568" y="2560320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2D6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36007" y="2633472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Payment Gateway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ISO 20022 ingestion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44568" y="3310128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2D6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7" y="3383280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Recon &amp; Idempotency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source of truth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44568" y="4059936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2D6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36007" y="4133088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Compliance Engine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KYC/AML · Travel Rule · eligibility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44568" y="4809744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2D6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36007" y="4882896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FireFly Orchestrator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mint / transfer / burn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29016" y="2560320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0456" y="2633472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CMTAT RCN Token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+ RuleEngine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29016" y="3310128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0456" y="3383280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On-chain Register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ledger-based security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29016" y="4059936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0456" y="4133088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Investor Wallet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whitelisted · custodial / MPC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29016" y="4809744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0456" y="4882896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Events / Receipts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back to reconciliation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CASH LEG VS SECURITY LEG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The atomicity problem — the actual hard part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778"/>
                </a:solidFill>
                <a:latin typeface="Calibri"/>
              </a:rPr>
              <a:t>A domestic instant rail and a DLT have independent, non-atomic finality. You cannot two-phase-commit FedNow and an EVM block.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331720"/>
            <a:ext cx="10543032" cy="384048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386584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386584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386584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TRADE-OFF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715768"/>
            <a:ext cx="10543032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2715768"/>
            <a:ext cx="82296" cy="7863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807208"/>
            <a:ext cx="2514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Naïve sequential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807208"/>
            <a:ext cx="3840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Confirm cash → then mint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807208"/>
            <a:ext cx="37490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Window of “cash taken, token not minted.” Must reconcile + reverse.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502151"/>
            <a:ext cx="10543032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3502151"/>
            <a:ext cx="82296" cy="786384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593591"/>
            <a:ext cx="2514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Escrow / conditional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593591"/>
            <a:ext cx="3840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Cash in client-money escrow; mint on release; auto-refund on timeout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3593591"/>
            <a:ext cx="37490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Strong client protection; needs safeguarded account.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288536"/>
            <a:ext cx="10543032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4288536"/>
            <a:ext cx="82296" cy="786384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379975"/>
            <a:ext cx="2514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PvP / DvP (HTLC / notary)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4379975"/>
            <a:ext cx="3840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Atomic swap of cash proof ↔ token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4379975"/>
            <a:ext cx="37490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True delivery-vs-payment; needs tokenized cash or notary oracle.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074920"/>
            <a:ext cx="10543032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" y="5074920"/>
            <a:ext cx="82296" cy="786384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5166359"/>
            <a:ext cx="2514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Tokenized cash leg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5166359"/>
            <a:ext cx="3840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Stablecoin / tokenized deposit / wCBDC on same ledger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5166359"/>
            <a:ext cx="37490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Cleanest atomicity; adds money-classification (EMT / deposit token).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93445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Recommended: </a:t>
            </a:r>
            <a:r>
              <a:rPr sz="1300" b="0">
                <a:solidFill>
                  <a:srgbClr val="0F1A2B"/>
                </a:solidFill>
                <a:latin typeface="Calibri"/>
              </a:rPr>
              <a:t>escrow-backed sequential + idempotent reconciliation now → on-chain DvP against a tokenized deposit where permitted.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EXACTLY-ONCE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Payment → mint sequence (escrow, idempotent)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645920"/>
            <a:ext cx="1554480" cy="4572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Client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0353" y="2148840"/>
            <a:ext cx="10972" cy="379476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58568" y="1645920"/>
            <a:ext cx="1554480" cy="4572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Settlement
Bank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30321" y="2148840"/>
            <a:ext cx="10972" cy="379476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88536" y="1645920"/>
            <a:ext cx="1554480" cy="4572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8536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Payment
Gateway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60289" y="2148840"/>
            <a:ext cx="10972" cy="379476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18504" y="1645920"/>
            <a:ext cx="1554480" cy="4572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18504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Recon /
Idempotency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90257" y="2148840"/>
            <a:ext cx="10972" cy="379476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48471" y="1645920"/>
            <a:ext cx="1554480" cy="4572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8471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FireFly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20225" y="2148840"/>
            <a:ext cx="10972" cy="379476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78439" y="1645920"/>
            <a:ext cx="1554480" cy="4572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78439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CMTAT
Token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150193" y="2148840"/>
            <a:ext cx="10972" cy="379476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1005840" y="2468880"/>
            <a:ext cx="2029968" cy="0"/>
          </a:xfrm>
          <a:prstGeom prst="bentConnector3">
            <a:avLst/>
          </a:prstGeom>
          <a:ln w="17780">
            <a:solidFill>
              <a:srgbClr val="0F1A2B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57783" y="217627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0F1A2B"/>
                </a:solidFill>
                <a:latin typeface="Calibri"/>
              </a:rPr>
              <a:t>instant credit transfer (pacs.008)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035808" y="2880360"/>
            <a:ext cx="2029967" cy="0"/>
          </a:xfrm>
          <a:prstGeom prst="bentConnector3">
            <a:avLst/>
          </a:prstGeom>
          <a:ln w="17780">
            <a:solidFill>
              <a:srgbClr val="119DA4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587751" y="258775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19DA4"/>
                </a:solidFill>
                <a:latin typeface="Calibri"/>
              </a:rPr>
              <a:t>pacs.002 ACSC — settlement finality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065775" y="3291840"/>
            <a:ext cx="2029969" cy="0"/>
          </a:xfrm>
          <a:prstGeom prst="bentConnector3">
            <a:avLst/>
          </a:prstGeom>
          <a:ln w="17780">
            <a:solidFill>
              <a:srgbClr val="0F1A2B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617719" y="299923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0F1A2B"/>
                </a:solidFill>
                <a:latin typeface="Calibri"/>
              </a:rPr>
              <a:t>record(subscriptionId, amount)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8504" y="352044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A6778"/>
                </a:solidFill>
                <a:latin typeface="Calibri"/>
              </a:rPr>
              <a:t>idempotency check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095744" y="3977639"/>
            <a:ext cx="2029967" cy="0"/>
          </a:xfrm>
          <a:prstGeom prst="bentConnector3">
            <a:avLst/>
          </a:prstGeom>
          <a:ln w="17780">
            <a:solidFill>
              <a:srgbClr val="2D6CDF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647688" y="3685031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D6CDF"/>
                </a:solidFill>
                <a:latin typeface="Calibri"/>
              </a:rPr>
              <a:t>mintRequest [operationId = subscriptionId]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125711" y="4389120"/>
            <a:ext cx="2029968" cy="0"/>
          </a:xfrm>
          <a:prstGeom prst="bentConnector3">
            <a:avLst/>
          </a:prstGeom>
          <a:ln w="17780">
            <a:solidFill>
              <a:srgbClr val="2D6CDF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677655" y="4096511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D6CDF"/>
                </a:solidFill>
                <a:latin typeface="Calibri"/>
              </a:rPr>
              <a:t>mint(wallet, units)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25711" y="4800600"/>
            <a:ext cx="2029968" cy="0"/>
          </a:xfrm>
          <a:prstGeom prst="bentConnector3">
            <a:avLst/>
          </a:prstGeom>
          <a:ln w="17780">
            <a:prstDash val="dash"/>
            <a:solidFill>
              <a:srgbClr val="119DA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677655" y="450799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19DA4"/>
                </a:solidFill>
                <a:latin typeface="Calibri"/>
              </a:rPr>
              <a:t>Mint event + receipt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095744" y="5212080"/>
            <a:ext cx="2029967" cy="0"/>
          </a:xfrm>
          <a:prstGeom prst="bentConnector3">
            <a:avLst/>
          </a:prstGeom>
          <a:ln w="17780">
            <a:prstDash val="dash"/>
            <a:solidFill>
              <a:srgbClr val="119DA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647688" y="491947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19DA4"/>
                </a:solidFill>
                <a:latin typeface="Calibri"/>
              </a:rPr>
              <a:t>minted(subscriptionId, txHash)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035808" y="5623560"/>
            <a:ext cx="4059936" cy="0"/>
          </a:xfrm>
          <a:prstGeom prst="bentConnector3">
            <a:avLst/>
          </a:prstGeom>
          <a:ln w="17780">
            <a:solidFill>
              <a:srgbClr val="C892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602736" y="533095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8922B"/>
                </a:solidFill>
                <a:latin typeface="Calibri"/>
              </a:rPr>
              <a:t>release escrow to issuer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" y="6144768"/>
            <a:ext cx="10543032" cy="457200"/>
          </a:xfrm>
          <a:prstGeom prst="roundRect">
            <a:avLst/>
          </a:prstGeom>
          <a:solidFill>
            <a:srgbClr val="EEF3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6217920"/>
            <a:ext cx="10149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42A4A"/>
                </a:solidFill>
                <a:latin typeface="Calibri"/>
              </a:rPr>
              <a:t>Idempotency key = ISO 20022 end-to-end id = FireFly operationId → re-delivered payment events never double-mint. On reject/timeout → auto-refund escrow.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TOKEN STATE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CMTAT ↔ RCN lifecycle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291840"/>
            <a:ext cx="137160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46704"/>
            <a:ext cx="1371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Subscribed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3291840"/>
            <a:ext cx="1554480" cy="621792"/>
          </a:xfrm>
          <a:prstGeom prst="roundRect">
            <a:avLst/>
          </a:prstGeom>
          <a:solidFill>
            <a:srgbClr val="EEF3FB"/>
          </a:solidFill>
          <a:ln w="19050">
            <a:solidFill>
              <a:srgbClr val="2D6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334670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Active (in issue)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40280" y="3602736"/>
            <a:ext cx="640080" cy="0"/>
          </a:xfrm>
          <a:prstGeom prst="bentConnector3">
            <a:avLst/>
          </a:prstGeom>
          <a:ln w="20320">
            <a:solidFill>
              <a:srgbClr val="2D6CDF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88719" y="32918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D6CDF"/>
                </a:solidFill>
                <a:latin typeface="Calibri"/>
              </a:rPr>
              <a:t>mint()</a:t>
            </a:r>
          </a:p>
        </p:txBody>
      </p:sp>
      <p:sp>
        <p:nvSpPr>
          <p:cNvPr id="14" name="Diamond 13"/>
          <p:cNvSpPr/>
          <p:nvPr/>
        </p:nvSpPr>
        <p:spPr>
          <a:xfrm>
            <a:off x="5989320" y="3246120"/>
            <a:ext cx="822960" cy="822960"/>
          </a:xfrm>
          <a:prstGeom prst="diamond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23559" y="411480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C8922B"/>
                </a:solidFill>
                <a:latin typeface="Calibri"/>
              </a:rPr>
              <a:t>barrier?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434840" y="3602736"/>
            <a:ext cx="1554480" cy="54864"/>
          </a:xfrm>
          <a:prstGeom prst="bentConnector3">
            <a:avLst/>
          </a:prstGeom>
          <a:ln w="20320">
            <a:solidFill>
              <a:srgbClr val="0F1A2B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840479" y="33192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F1A2B"/>
                </a:solidFill>
                <a:latin typeface="Calibri"/>
              </a:rPr>
              <a:t>maturity / autocall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2514600"/>
            <a:ext cx="182880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0" y="2569464"/>
            <a:ext cx="18288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Redeemed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0" y="4206240"/>
            <a:ext cx="182880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0" y="4261103"/>
            <a:ext cx="18288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Settled (physical)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812280" y="2880360"/>
            <a:ext cx="502920" cy="640080"/>
          </a:xfrm>
          <a:prstGeom prst="bentConnector3">
            <a:avLst/>
          </a:prstGeom>
          <a:ln w="20320">
            <a:solidFill>
              <a:srgbClr val="119DA4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692140" y="288950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19DA4"/>
                </a:solidFill>
                <a:latin typeface="Calibri"/>
              </a:rPr>
              <a:t>OK → burn + par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12280" y="3794760"/>
            <a:ext cx="502920" cy="640080"/>
          </a:xfrm>
          <a:prstGeom prst="bentConnector3">
            <a:avLst/>
          </a:prstGeom>
          <a:ln w="20320">
            <a:solidFill>
              <a:srgbClr val="C8922B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92140" y="380390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8922B"/>
                </a:solidFill>
                <a:latin typeface="Calibri"/>
              </a:rPr>
              <a:t>breached → deliver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58400" y="2514600"/>
            <a:ext cx="155448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A67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0" y="256946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400" y="4206240"/>
            <a:ext cx="155448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A67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0" y="4261103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End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44000" y="2825496"/>
            <a:ext cx="914400" cy="0"/>
          </a:xfrm>
          <a:prstGeom prst="bentConnector3">
            <a:avLst/>
          </a:prstGeom>
          <a:ln w="20320">
            <a:solidFill>
              <a:srgbClr val="5A6778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144000" y="4517136"/>
            <a:ext cx="914400" cy="0"/>
          </a:xfrm>
          <a:prstGeom prst="bentConnector3">
            <a:avLst/>
          </a:prstGeom>
          <a:ln w="20320">
            <a:solidFill>
              <a:srgbClr val="5A6778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2880360" y="5212080"/>
            <a:ext cx="1554480" cy="621792"/>
          </a:xfrm>
          <a:prstGeom prst="roundRect">
            <a:avLst/>
          </a:prstGeom>
          <a:solidFill>
            <a:srgbClr val="EBF6F6"/>
          </a:solidFill>
          <a:ln w="19050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80360" y="526694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CouponRecord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657600" y="3913632"/>
            <a:ext cx="0" cy="1298448"/>
          </a:xfrm>
          <a:prstGeom prst="bentConnector3">
            <a:avLst/>
          </a:prstGeom>
          <a:ln w="20320">
            <a:solidFill>
              <a:srgbClr val="119DA4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2286000" y="42519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19DA4"/>
                </a:solidFill>
                <a:latin typeface="Calibri"/>
              </a:rPr>
              <a:t>snapshot() @ record date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377440" y="5394960"/>
            <a:ext cx="502920" cy="0"/>
          </a:xfrm>
          <a:prstGeom prst="bentConnector3">
            <a:avLst/>
          </a:prstGeom>
          <a:ln w="20320">
            <a:solidFill>
              <a:srgbClr val="119DA4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377440" y="3703320"/>
            <a:ext cx="0" cy="1691640"/>
          </a:xfrm>
          <a:prstGeom prst="bentConnector3">
            <a:avLst/>
          </a:prstGeom>
          <a:ln w="20320">
            <a:prstDash val="dash"/>
            <a:solidFill>
              <a:srgbClr val="119DA4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005840" y="423824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19DA4"/>
                </a:solidFill>
                <a:latin typeface="Calibri"/>
              </a:rPr>
              <a:t>coupon paid on fiat rail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80360" y="1691640"/>
            <a:ext cx="1554480" cy="621792"/>
          </a:xfrm>
          <a:prstGeom prst="roundRect">
            <a:avLst/>
          </a:prstGeom>
          <a:solidFill>
            <a:srgbClr val="FBEEEE"/>
          </a:solidFill>
          <a:ln w="19050">
            <a:solidFill>
              <a:srgbClr val="C0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80360" y="174650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Frozen</a:t>
            </a:r>
          </a:p>
        </p:txBody>
      </p:sp>
      <p:cxnSp>
        <p:nvCxnSpPr>
          <p:cNvPr id="41" name="Connector 40"/>
          <p:cNvCxnSpPr/>
          <p:nvPr/>
        </p:nvCxnSpPr>
        <p:spPr>
          <a:xfrm flipV="1">
            <a:off x="3657600" y="2313432"/>
            <a:ext cx="0" cy="978408"/>
          </a:xfrm>
          <a:prstGeom prst="bentConnector3">
            <a:avLst/>
          </a:prstGeom>
          <a:ln w="20320">
            <a:solidFill>
              <a:srgbClr val="C03A3A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286000" y="24917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A3A"/>
                </a:solidFill>
                <a:latin typeface="Calibri"/>
              </a:rPr>
              <a:t>freeze(holder)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" y="6172200"/>
            <a:ext cx="10543032" cy="45720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0120" y="6236208"/>
            <a:ext cx="10241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F1A2B"/>
                </a:solidFill>
                <a:latin typeface="Calibri"/>
              </a:rPr>
              <a:t>Three ways out of Active: </a:t>
            </a:r>
            <a:r>
              <a:rPr sz="1150" b="0">
                <a:solidFill>
                  <a:srgbClr val="5A6778"/>
                </a:solidFill>
                <a:latin typeface="Calibri"/>
              </a:rPr>
              <a:t>recurring coupon cycle · involuntary Frozen hold (sanctions/court) · terminal Exit where the barrier routes to cash vs physical.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WHERE CROSS-BORDER BITES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Multi-jurisdiction compliance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874519"/>
            <a:ext cx="1737360" cy="749808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0" y="1874519"/>
            <a:ext cx="1761134" cy="749808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0" y="2002536"/>
            <a:ext cx="176113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🇨🇭 Switzerland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1454" y="1874519"/>
            <a:ext cx="1761134" cy="749808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21454" y="2002536"/>
            <a:ext cx="176113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🇪🇺 EU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2588" y="1874519"/>
            <a:ext cx="1761134" cy="749808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2588" y="2002536"/>
            <a:ext cx="176113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🇬🇧 UK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43723" y="1874519"/>
            <a:ext cx="1761134" cy="749808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3723" y="2002536"/>
            <a:ext cx="176113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🇸🇬 Singapore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4857" y="1874519"/>
            <a:ext cx="1761134" cy="749808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4857" y="2002536"/>
            <a:ext cx="176113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🇺🇸 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624327"/>
            <a:ext cx="1737360" cy="749808"/>
          </a:xfrm>
          <a:prstGeom prst="rect">
            <a:avLst/>
          </a:prstGeom>
          <a:solidFill>
            <a:srgbClr val="23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715768"/>
            <a:ext cx="1554480" cy="5669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Instant rail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60320" y="2624327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15184" y="2697479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SIC / SEPA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1454" y="2624327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76318" y="2697479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SEPA Inst · TIPS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82588" y="2624327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37452" y="2697479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Faster Payments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43723" y="2624327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98587" y="2697479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FAST · PayNow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04857" y="2624327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59721" y="2697479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FedNow · RTP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374135"/>
            <a:ext cx="1737360" cy="749808"/>
          </a:xfrm>
          <a:prstGeom prst="rect">
            <a:avLst/>
          </a:prstGeom>
          <a:solidFill>
            <a:srgbClr val="23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3465575"/>
            <a:ext cx="1554480" cy="5669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Legal basis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60320" y="3374135"/>
            <a:ext cx="1761134" cy="74980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15184" y="3447287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DLT Act (CO 973d)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21454" y="3374135"/>
            <a:ext cx="1761134" cy="74980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76318" y="3447287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MiCA + MiFID II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82588" y="3374135"/>
            <a:ext cx="1761134" cy="74980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37452" y="3447287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FSMA · DSS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843723" y="3374135"/>
            <a:ext cx="1761134" cy="74980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98587" y="3447287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SFA · PS Act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604857" y="3374135"/>
            <a:ext cx="1761134" cy="74980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59721" y="3447287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Securities Act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" y="4123944"/>
            <a:ext cx="1737360" cy="749808"/>
          </a:xfrm>
          <a:prstGeom prst="rect">
            <a:avLst/>
          </a:prstGeom>
          <a:solidFill>
            <a:srgbClr val="23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215383"/>
            <a:ext cx="1554480" cy="5669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Disclosure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560320" y="4123944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615184" y="4197096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FIDLEG KID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21454" y="4123944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76318" y="4197096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PRIIPs + Prospectus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82588" y="4123944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37452" y="4197096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UK PRIIPs · Duty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843723" y="4123944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898587" y="4197096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Product sheet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604857" y="4123944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59721" y="4197096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Reg S / 144A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2960" y="4873752"/>
            <a:ext cx="1737360" cy="749808"/>
          </a:xfrm>
          <a:prstGeom prst="rect">
            <a:avLst/>
          </a:prstGeom>
          <a:solidFill>
            <a:srgbClr val="23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4400" y="4965192"/>
            <a:ext cx="1554480" cy="5669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Investor gate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560320" y="4873752"/>
            <a:ext cx="1761134" cy="74980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615184" y="4946904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Qualified/retail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21454" y="4873752"/>
            <a:ext cx="1761134" cy="74980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376318" y="4946904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MiFID categories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082588" y="4873752"/>
            <a:ext cx="1761134" cy="74980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37452" y="4946904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FCA categorisation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843723" y="4873752"/>
            <a:ext cx="1761134" cy="74980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898587" y="4946904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Accredited/instl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604857" y="4873752"/>
            <a:ext cx="1761134" cy="74980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59721" y="4946904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Accredited/QIB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2960" y="5623560"/>
            <a:ext cx="1737360" cy="749808"/>
          </a:xfrm>
          <a:prstGeom prst="rect">
            <a:avLst/>
          </a:prstGeom>
          <a:solidFill>
            <a:srgbClr val="23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" y="5715000"/>
            <a:ext cx="1554480" cy="5669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AML / Travel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560320" y="5623560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615184" y="5696712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AMLA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321454" y="5623560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376318" y="5696712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AMLD · TFR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082588" y="5623560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137452" y="5696712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MLR 2017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843723" y="5623560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898587" y="5696712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MAS Notice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604857" y="5623560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59721" y="5696712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BSA / FinCEN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2960" y="6483096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C8922B"/>
                </a:solidFill>
                <a:latin typeface="Calibri"/>
              </a:rPr>
              <a:t>Enforced in the RuleEngine, not the UI: </a:t>
            </a:r>
            <a:r>
              <a:rPr sz="1250" b="0">
                <a:solidFill>
                  <a:srgbClr val="0F1A2B"/>
                </a:solidFill>
                <a:latin typeface="Calibri"/>
              </a:rPr>
              <a:t>wallet jurisdiction is checked on every transfer · Travel-Rule payloads off-chain (IVMS-101) · PII hashes only.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48085908000" cy="6270955200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21208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02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2296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Two thin layers — token + orchestrator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517904"/>
            <a:ext cx="10543032" cy="18288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120640" cy="4297680"/>
          </a:xfrm>
          <a:prstGeom prst="roundRect">
            <a:avLst/>
          </a:prstGeom>
          <a:solidFill>
            <a:srgbClr val="0A121F"/>
          </a:solidFill>
          <a:ln w="12700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 Same Side Corner Rectangle 8"/>
          <p:cNvSpPr/>
          <p:nvPr/>
        </p:nvSpPr>
        <p:spPr>
          <a:xfrm>
            <a:off x="822960" y="1828800"/>
            <a:ext cx="5120640" cy="402336"/>
          </a:xfrm>
          <a:prstGeom prst="round2Same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83664"/>
            <a:ext cx="4754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RCNToken.sol  (extends CMTAT)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377440"/>
            <a:ext cx="480974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050">
                <a:solidFill>
                  <a:srgbClr val="5F8AC0"/>
                </a:solidFill>
                <a:latin typeface="Consolas"/>
              </a:rPr>
              <a:t>// thin: lifecycle DRIVEN by FireFly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C8922B"/>
                </a:solidFill>
                <a:latin typeface="Consolas"/>
              </a:rPr>
              <a:t>function mintOnSettlement(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  bytes32 subId, address to, uint256 u)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onlyRole(ISSUER_ROLE) {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5F8AC0"/>
                </a:solidFill>
                <a:latin typeface="Consolas"/>
              </a:rPr>
              <a:t>  // RuleEngine must pass: eligible+juris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_mint(to, u);  emit Minted(subId,to,u);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}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C8922B"/>
                </a:solidFill>
                <a:latin typeface="Consolas"/>
              </a:rPr>
              <a:t>function observeBarrier(uint256 lvlBps)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onlyRole(ORACLE_ROLE) { 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if (lvlBps &lt; barrierBps) breached=true; }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C8922B"/>
                </a:solidFill>
                <a:latin typeface="Consolas"/>
              </a:rPr>
              <a:t>function settle(address h, uint256 u)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onlyRole(SETTLEMENT_ROLE) {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bool physical = breached; _burn(h,u); 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1828800"/>
            <a:ext cx="5120640" cy="4297680"/>
          </a:xfrm>
          <a:prstGeom prst="roundRect">
            <a:avLst/>
          </a:prstGeom>
          <a:solidFill>
            <a:srgbClr val="0A121F"/>
          </a:solidFill>
          <a:ln w="12700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6245352" y="1828800"/>
            <a:ext cx="5120640" cy="402336"/>
          </a:xfrm>
          <a:prstGeom prst="round2Same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883664"/>
            <a:ext cx="4754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orchestrator.ts  (FireFly SDK)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9944" y="2377440"/>
            <a:ext cx="480974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050">
                <a:solidFill>
                  <a:srgbClr val="5F8AC0"/>
                </a:solidFill>
                <a:latin typeface="Consolas"/>
              </a:rPr>
              <a:t>// idempotent on subscriptionId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C8922B"/>
                </a:solidFill>
                <a:latin typeface="Consolas"/>
              </a:rPr>
              <a:t>async function onPaymentFinality(e){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if (await alreadyMinted(e.subId))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5F8AC0"/>
                </a:solidFill>
                <a:latin typeface="Consolas"/>
              </a:rPr>
              <a:t>      return;              // dedupe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const ok = await compliance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    .check(e.wallet, e.subId);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if (!ok) return refundEscrow(e.subId);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await firefly.mintTokens(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  { pool: POOL, to: e.wallet,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    amount: e.units },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5F8AC0"/>
                </a:solidFill>
                <a:latin typeface="Consolas"/>
              </a:rPr>
              <a:t>    { requestId: e.subId,      // idem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5F8AC0"/>
                </a:solidFill>
                <a:latin typeface="Consolas"/>
              </a:rPr>
              <a:t>      confirm: true });   // wait final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FAILURE-FIRST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Reliability &amp; threat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12064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9339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D6CDF"/>
                </a:solidFill>
                <a:latin typeface="Calibri"/>
              </a:rPr>
              <a:t>Failure handling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560320"/>
            <a:ext cx="466344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Payment event lost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durable FireFly stream + re-drive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Duplicate event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idempotency key, exactly-once mint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Cash settled, mint reverts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auto-refund escrow, no partial state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Chain reorg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confirm:true, only finalized receipts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Oracle dispute at barrier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signed feed + Pause if systemic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828800"/>
            <a:ext cx="5239512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9933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03A3A"/>
                </a:solidFill>
                <a:latin typeface="Calibri"/>
              </a:rPr>
              <a:t>Threats →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560320"/>
            <a:ext cx="475488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C03A3A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ISSUER_ROLE key compromise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HSM/MPC, multisig, per-op limits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C03A3A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Oracle manipulation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multi-source signed feed, dispute window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C03A3A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Payment replay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end-to-end idempotency key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C03A3A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Eligibility bypass on resale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RuleEngine gates every transfer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C03A3A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PII on-chain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hashes only, private data exchange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C03A3A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Reg S → US-person leakage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jurisdiction attr enforced on transfer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Invariant: </a:t>
            </a:r>
            <a:r>
              <a:rPr sz="1300" b="0">
                <a:solidFill>
                  <a:srgbClr val="0F1A2B"/>
                </a:solidFill>
                <a:latin typeface="Calibri"/>
              </a:rPr>
              <a:t>the reconciliation store — not the chain, not core banking alone — is the correlated source of truth. Both legs reconcile to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FROM ZERO TO ISSUANCE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Pragmatic build sequence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74519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50976" y="2048255"/>
            <a:ext cx="566928" cy="566928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048255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00253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Stand up FireFly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33172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blockchain + token connector + event streams; prove mint/transfer/burn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26079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50976" y="3099815"/>
            <a:ext cx="566928" cy="566928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3099815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05409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Deploy CMTAT 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383279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permissioned EVM; wire RuleEngine with a stub eligibility rule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977639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50976" y="4151376"/>
            <a:ext cx="566928" cy="566928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5137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05655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Recon + ISO 20022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443484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idempotency store + pacs.002 finality on ONE rail (SEPA Inst sandbox)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029200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0976" y="5202936"/>
            <a:ext cx="566928" cy="566928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520293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515721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Escrow mint-on-finality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548640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prove exactly-once + auto-refund reversal paths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1874519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37376" y="2048255"/>
            <a:ext cx="566928" cy="566928"/>
          </a:xfrm>
          <a:prstGeom prst="ellipse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37376" y="2048255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200253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Lifecycle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233172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snapshot→coupon, barrier oracle, maturity settle (cash &amp; physical)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2926079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37376" y="3099815"/>
            <a:ext cx="566928" cy="566928"/>
          </a:xfrm>
          <a:prstGeom prst="ellipse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7376" y="3099815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8040" y="305409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Compliance layer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78040" y="3383279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KYC/AML, Travel Rule payloads, jurisdiction gating; PII off-chain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60" y="3977639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437376" y="4151376"/>
            <a:ext cx="566928" cy="566928"/>
          </a:xfrm>
          <a:prstGeom prst="ellipse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37376" y="415137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78040" y="4105655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Second jurisdiction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443484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generalize matrix into RuleEngine config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09360" y="5029200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437376" y="5202936"/>
            <a:ext cx="566928" cy="566928"/>
          </a:xfrm>
          <a:prstGeom prst="ellipse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37376" y="520293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78040" y="515721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Audit + legal opinion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78040" y="548640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Solidity + orchestration audit, per-jurisdiction opinion before live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No warranty. Validate every control with licensed counsel and your regulators before production issuance.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48085908000" cy="6270955200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82296" cy="1828800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6596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FFFFFF"/>
                </a:solidFill>
                <a:latin typeface="Calibri"/>
              </a:rPr>
              <a:t>The token is easy.</a:t>
            </a:r>
          </a:p>
          <a:p>
            <a:pPr algn="l">
              <a:lnSpc>
                <a:spcPct val="106000"/>
              </a:lnSpc>
            </a:pPr>
            <a:r>
              <a:rPr sz="3000" b="1">
                <a:solidFill>
                  <a:srgbClr val="BFD2F0"/>
                </a:solidFill>
                <a:latin typeface="Calibri"/>
              </a:rPr>
              <a:t>Atomicity across two finalities, across jurisdictions,</a:t>
            </a:r>
          </a:p>
          <a:p>
            <a:pPr algn="l">
              <a:lnSpc>
                <a:spcPct val="106000"/>
              </a:lnSpc>
            </a:pPr>
            <a:r>
              <a:rPr sz="3000" b="1">
                <a:solidFill>
                  <a:srgbClr val="BFD2F0"/>
                </a:solidFill>
                <a:latin typeface="Calibri"/>
              </a:rPr>
              <a:t>is the architecture.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FFFFFF"/>
                </a:solidFill>
                <a:latin typeface="Calibri"/>
              </a:rPr>
              <a:t>• Recon store = source of truth   • Idempotency = exactly-once mint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FFFFFF"/>
                </a:solidFill>
                <a:latin typeface="Calibri"/>
              </a:rPr>
              <a:t>• RuleEngine gates every transfer   • PII off-chain, hashes on   • Escrow + auto-reversal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943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AADC8"/>
                </a:solidFill>
                <a:latin typeface="Calibri"/>
              </a:rPr>
              <a:t>Full write-up, diagrams &amp; code skeletons in the companion repo &amp; gist.  Not legal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