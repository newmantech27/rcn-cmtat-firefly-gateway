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1148085908000" cy="54864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82296" cy="109728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922B"/>
                </a:solidFill>
                <a:latin typeface="Calibri"/>
              </a:rPr>
              <a:t>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0241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Instant-Payment Front-to-Back</a:t>
            </a:r>
          </a:p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Settlement Gateway for Tokenized RCNs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39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Cash flows </a:t>
            </a:r>
            <a:r>
              <a:rPr sz="1900" b="1">
                <a:solidFill>
                  <a:srgbClr val="C8922B"/>
                </a:solidFill>
                <a:latin typeface="Calibri"/>
              </a:rPr>
              <a:t>TradFi → TradFi</a:t>
            </a:r>
            <a:r>
              <a:rPr sz="1900" b="0">
                <a:solidFill>
                  <a:srgbClr val="BFD2F0"/>
                </a:solidFill>
                <a:latin typeface="Calibri"/>
              </a:rPr>
              <a:t>.  The permissioned DLT is the shared</a:t>
            </a:r>
          </a:p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messaging / coordination layer — FireFly minting CMTAT tokens for RCNs.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DC8"/>
                </a:solidFill>
                <a:latin typeface="Calibri"/>
              </a:rPr>
              <a:t>DLT engineering · FireFly integration · cross-border settlement · multi-jurisdiction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WHAT WE TOKENIZE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instrument — Reverse Convertible 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029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4663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A2B"/>
                </a:solidFill>
                <a:latin typeface="Calibri"/>
              </a:rPr>
              <a:t>RCN = </a:t>
            </a:r>
            <a:r>
              <a:rPr sz="1700" b="1">
                <a:solidFill>
                  <a:srgbClr val="2D6CDF"/>
                </a:solidFill>
                <a:latin typeface="Calibri"/>
              </a:rPr>
              <a:t>zero-coupon note</a:t>
            </a:r>
            <a:r>
              <a:rPr sz="1700" b="1">
                <a:solidFill>
                  <a:srgbClr val="0F1A2B"/>
                </a:solidFill>
                <a:latin typeface="Calibri"/>
              </a:rPr>
              <a:t>  +  </a:t>
            </a:r>
            <a:r>
              <a:rPr sz="1700" b="1">
                <a:solidFill>
                  <a:srgbClr val="119DA4"/>
                </a:solidFill>
                <a:latin typeface="Calibri"/>
              </a:rPr>
              <a:t>short put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6778"/>
                </a:solidFill>
                <a:latin typeface="Calibri"/>
              </a:rPr>
              <a:t>Above-market coupon funded by the option premium the investor implicitly sells.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≥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cash redemption at par + coupon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&lt;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physical delivery of underlying, at a loss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Variants: </a:t>
            </a:r>
            <a:r>
              <a:rPr sz="1450" b="0">
                <a:solidFill>
                  <a:srgbClr val="5A6778"/>
                </a:solidFill>
                <a:latin typeface="Calibri"/>
              </a:rPr>
              <a:t>barrier / knock-in, worst-of basket, autocallable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193792" cy="420624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A4A"/>
                </a:solidFill>
                <a:latin typeface="Calibri"/>
              </a:rPr>
              <a:t>Why classification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5176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Structured DEBT security</a:t>
            </a:r>
            <a:r>
              <a:rPr sz="1400" b="0">
                <a:solidFill>
                  <a:srgbClr val="5A6778"/>
                </a:solidFill>
                <a:latin typeface="Calibri"/>
              </a:rPr>
              <a:t> — not e-money, not a payment token.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Drives the overlay:</a:t>
            </a:r>
            <a:r>
              <a:rPr sz="1400" b="0">
                <a:solidFill>
                  <a:srgbClr val="5A6778"/>
                </a:solidFill>
                <a:latin typeface="Calibri"/>
              </a:rPr>
              <a:t> prospectus / PRIIPs KID, MiFID II product governance &amp; appropriateness.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Transfer-agent duties</a:t>
            </a:r>
            <a:r>
              <a:rPr sz="1400" b="0">
                <a:solidFill>
                  <a:srgbClr val="5A6778"/>
                </a:solidFill>
                <a:latin typeface="Calibri"/>
              </a:rPr>
              <a:t> and investor-eligibility gating apply.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Token is the register</a:t>
            </a:r>
            <a:r>
              <a:rPr sz="1400" b="0">
                <a:solidFill>
                  <a:srgbClr val="5A6778"/>
                </a:solidFill>
                <a:latin typeface="Calibri"/>
              </a:rPr>
              <a:t> where DLT law allows (ledger-based security).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Why CMTAT + Hyperledger FireFly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0749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D6CDF"/>
                </a:solidFill>
                <a:latin typeface="Calibri"/>
              </a:rPr>
              <a:t>CMTAT</a:t>
            </a:r>
            <a:r>
              <a:rPr sz="1400" b="0">
                <a:solidFill>
                  <a:srgbClr val="5A6778"/>
                </a:solidFill>
                <a:latin typeface="Calibri"/>
              </a:rPr>
              <a:t>  security-token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6177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Mint / Burn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issue on cash finality; redeem at maturity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Pause / Enforcement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halt issuance; freeze a holder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RuleEngine (ERC-1404)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eligibility &amp; jurisdiction gating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Snapshot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holders-of-record at each coupon date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Debt module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coupon schedule, maturity, credit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828800"/>
            <a:ext cx="516636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19DA4"/>
                </a:solidFill>
                <a:latin typeface="Calibri"/>
              </a:rPr>
              <a:t>FireFly</a:t>
            </a:r>
            <a:r>
              <a:rPr sz="1400" b="0">
                <a:solidFill>
                  <a:srgbClr val="5A6778"/>
                </a:solidFill>
                <a:latin typeface="Calibri"/>
              </a:rPr>
              <a:t>  orchestration supernode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606040"/>
            <a:ext cx="47091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Token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business-level mint/transfer/burn API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Blockchain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nonce, gas, retry,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Event streams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durable, at-least-once, checkpointed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Data exchange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PII / KID off-chain, hash on-chain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Transaction manager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idempotent, exactly-once mint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2A4A"/>
                </a:solidFill>
                <a:latin typeface="Calibri"/>
              </a:rPr>
              <a:t>Net: FireFly turns “cash settled with finality” into “token minted, once, to the right wallet, with the right restrictions.”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Front-to-back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74519"/>
            <a:ext cx="3383280" cy="45720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① CASH — TradFi → TradFi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07408" y="1874519"/>
            <a:ext cx="3383280" cy="457200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② GATEWAY — correlates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7991856" y="1874519"/>
            <a:ext cx="3383280" cy="45720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③ DLT — MESSAGING (no cash)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Client / Investor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fiat in ↓   ·   fiat out 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 IN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subscribe — SEPA Inst · FedNow · RTP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Settlement / Paying Bank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escrow · client-money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 OUT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coupon · redemption par → client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Payment Gateway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ISO 20022 ingestion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4568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7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Recon &amp; Idempotency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source of truth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44568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6007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Compliance Engine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KYC/AML · Travel Rule · eligibility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4568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6007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FireFly Orchestrator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/ transfer / burn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29016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CMTAT RCN Token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shared golden record + message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Authoritative Register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ledger-based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9016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Investor Wallet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whitelisted · custodial / MPC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9016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0456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Coordination Events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· snapshot · burn → payout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NO ON-CHAIN VALUE LEG TO MAKE ATOMIC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coordination problem — the actual hard 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6778"/>
                </a:solidFill>
                <a:latin typeface="Calibri"/>
              </a:rPr>
              <a:t>Cash stays in TradFi; the DLT only messages. So the problem isn’t atomic value transfer — it’s correlating an off-chain cash event to an on-chain message, exactly once, with a safe reversal.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31720"/>
            <a:ext cx="10543032" cy="384048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86584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865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38658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TRADE-OFF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15768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715768"/>
            <a:ext cx="82296" cy="7863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Naïve sequential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07208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Cash finality → then message (mint)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07208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Window of “cash taken, note not recorded.” Must reconcile + reverse.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502151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502151"/>
            <a:ext cx="82296" cy="78638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593591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+ msg-on-finality  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593591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Escrow held; mint only on confirmed finality; auto-refund on timeout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93591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Strong client protection; needs safeguarded account. Recommended.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88536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88536"/>
            <a:ext cx="82296" cy="78638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79975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release gated on mint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379975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Escrow → issuer only AFTER on-chain mint event observed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379975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Kills both races: minted-but-cash-lost and cash-released-but-not-minted.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074920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074920"/>
            <a:ext cx="82296" cy="786384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166359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Optional on-chain DvP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166359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Tokenized deposit on same ledger, where law permits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5166359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Cleanest atomicity — but pulls money on-chain, against the TradFi→TradFi goal.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3445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Recommended: </a:t>
            </a:r>
            <a:r>
              <a:rPr sz="1300" b="0">
                <a:solidFill>
                  <a:srgbClr val="0F1A2B"/>
                </a:solidFill>
                <a:latin typeface="Calibri"/>
              </a:rPr>
              <a:t>escrow + message-on-finality, escrow release gated on the mint event, idempotent reconciliation as source of truth. No value on-chain = tiny failure surface.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EXACTLY-ONCE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Payment → mint sequence (escrow, idempotent)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35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Settlement
Bank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0321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88536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Payment
Gateway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0289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8504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Recon /
Idempotency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257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48471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FireFly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225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39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CMTAT
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5019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2468880"/>
            <a:ext cx="2029968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7783" y="21762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instant credit transfer (pacs.008)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35808" y="2880360"/>
            <a:ext cx="2029967" cy="0"/>
          </a:xfrm>
          <a:prstGeom prst="bentConnector3">
            <a:avLst/>
          </a:prstGeom>
          <a:ln w="1778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587751" y="25877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pacs.002 ACSC — settlement finality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65775" y="3291840"/>
            <a:ext cx="2029969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617719" y="299923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record(subscriptionId, amount)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352044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778"/>
                </a:solidFill>
                <a:latin typeface="Calibri"/>
              </a:rPr>
              <a:t>idempotency check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95744" y="3977639"/>
            <a:ext cx="2029967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647688" y="368503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mintRequest [operationId = subscriptionId]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25711" y="4389120"/>
            <a:ext cx="2029968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677655" y="409651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mint(wallet, units)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25711" y="4800600"/>
            <a:ext cx="2029968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677655" y="450799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 event + receipt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95744" y="5212080"/>
            <a:ext cx="2029967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47688" y="4919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minted(subscriptionId, txHash)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35808" y="5623560"/>
            <a:ext cx="4059936" cy="0"/>
          </a:xfrm>
          <a:prstGeom prst="bentConnector3">
            <a:avLst/>
          </a:prstGeom>
          <a:ln w="17780">
            <a:solidFill>
              <a:srgbClr val="C892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602736" y="5330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8922B"/>
                </a:solidFill>
                <a:latin typeface="Calibri"/>
              </a:rPr>
              <a:t>release escrow to issuer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44768"/>
            <a:ext cx="10543032" cy="45720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0149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Idempotency key = ISO 20022 end-to-end id = FireFly operationId → re-delivered payment events never double-mint. On reject/timeout → auto-refund escrow.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TOKEN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CMTAT ↔ RCN lifecycle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291840"/>
            <a:ext cx="13716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46704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Subscribed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291840"/>
            <a:ext cx="1554480" cy="621792"/>
          </a:xfrm>
          <a:prstGeom prst="roundRect">
            <a:avLst/>
          </a:prstGeom>
          <a:solidFill>
            <a:srgbClr val="EEF3FB"/>
          </a:solidFill>
          <a:ln w="1905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Active (in issue)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3602736"/>
            <a:ext cx="640080" cy="0"/>
          </a:xfrm>
          <a:prstGeom prst="bentConnector3">
            <a:avLst/>
          </a:prstGeom>
          <a:ln w="2032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88719" y="3291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D6CDF"/>
                </a:solidFill>
                <a:latin typeface="Calibri"/>
              </a:rPr>
              <a:t>mint()</a:t>
            </a:r>
          </a:p>
        </p:txBody>
      </p:sp>
      <p:sp>
        <p:nvSpPr>
          <p:cNvPr id="14" name="Diamond 13"/>
          <p:cNvSpPr/>
          <p:nvPr/>
        </p:nvSpPr>
        <p:spPr>
          <a:xfrm>
            <a:off x="5989320" y="3246120"/>
            <a:ext cx="822960" cy="822960"/>
          </a:xfrm>
          <a:prstGeom prst="diamond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59" y="41148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8922B"/>
                </a:solidFill>
                <a:latin typeface="Calibri"/>
              </a:rPr>
              <a:t>barrier?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34840" y="3602736"/>
            <a:ext cx="1554480" cy="54864"/>
          </a:xfrm>
          <a:prstGeom prst="bentConnector3">
            <a:avLst/>
          </a:prstGeom>
          <a:ln w="2032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79" y="33192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F1A2B"/>
                </a:solidFill>
                <a:latin typeface="Calibri"/>
              </a:rPr>
              <a:t>maturity / autocall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51460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569464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Redeemed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420624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4261103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Settled (physical)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812280" y="2880360"/>
            <a:ext cx="502920" cy="64008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92140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OK → burn + par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12280" y="3794760"/>
            <a:ext cx="502920" cy="640080"/>
          </a:xfrm>
          <a:prstGeom prst="bentConnector3">
            <a:avLst/>
          </a:prstGeom>
          <a:ln w="20320">
            <a:solidFill>
              <a:srgbClr val="C892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92140" y="38039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8922B"/>
                </a:solidFill>
                <a:latin typeface="Calibri"/>
              </a:rPr>
              <a:t>breached → deliver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251460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0" y="25694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20624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0" y="4261103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0" y="282549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144000" y="451713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5212080"/>
            <a:ext cx="1554480" cy="621792"/>
          </a:xfrm>
          <a:prstGeom prst="roundRect">
            <a:avLst/>
          </a:prstGeom>
          <a:solidFill>
            <a:srgbClr val="EBF6F6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360" y="52669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CouponRecord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3913632"/>
            <a:ext cx="0" cy="1298448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286000" y="4251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snapshot() @ record date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377440" y="5394960"/>
            <a:ext cx="502920" cy="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77440" y="3703320"/>
            <a:ext cx="0" cy="1691640"/>
          </a:xfrm>
          <a:prstGeom prst="bentConnector3">
            <a:avLst/>
          </a:prstGeom>
          <a:ln w="20320">
            <a:prstDash val="dash"/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423824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coupon paid on fiat rail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0360" y="1691640"/>
            <a:ext cx="1554480" cy="621792"/>
          </a:xfrm>
          <a:prstGeom prst="roundRect">
            <a:avLst/>
          </a:prstGeom>
          <a:solidFill>
            <a:srgbClr val="FBEEEE"/>
          </a:solidFill>
          <a:ln w="19050">
            <a:solidFill>
              <a:srgbClr val="C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0360" y="17465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Frozen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3657600" y="2313432"/>
            <a:ext cx="0" cy="978408"/>
          </a:xfrm>
          <a:prstGeom prst="bentConnector3">
            <a:avLst/>
          </a:prstGeom>
          <a:ln w="20320">
            <a:solidFill>
              <a:srgbClr val="C03A3A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286000" y="24917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A3A"/>
                </a:solidFill>
                <a:latin typeface="Calibri"/>
              </a:rPr>
              <a:t>freeze(holder)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72200"/>
            <a:ext cx="10543032" cy="4572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6236208"/>
            <a:ext cx="10241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A2B"/>
                </a:solidFill>
                <a:latin typeface="Calibri"/>
              </a:rPr>
              <a:t>Three ways out of Active: </a:t>
            </a:r>
            <a:r>
              <a:rPr sz="1150" b="0">
                <a:solidFill>
                  <a:srgbClr val="5A6778"/>
                </a:solidFill>
                <a:latin typeface="Calibri"/>
              </a:rPr>
              <a:t>recurring coupon cycle · involuntary Frozen hold (sanctions/court) · terminal Exit where the barrier routes to cash vs physical.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WHERE CROSS-BORDER BITES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Multi-jurisdiction compliance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1737360" cy="749808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🇨🇭 Switzerland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1454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1454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🇪🇺 EU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2588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2588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🇬🇧 UK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43723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3723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🇸🇬 Singapore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4857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4857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🇺🇸 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624327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715768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Instant 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5184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SIC / SEPA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1454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6318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SEPA Inst · TIPS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2588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7452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Faster Payments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3723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8587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 · PayNow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4857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9721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FedNow · RTP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374135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465575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Legal basis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60320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DLT Act (CO 973d)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1454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76318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MiCA + MiFID II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2588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37452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FSMA · DSS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43723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98587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SFA · PS Act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4857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9721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Securities 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4123944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215383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Disclosure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60320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5184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FIDLEG KID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1454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6318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PRIIPs + Prospectus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82588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37452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UK PRIIPs · Duty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43723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98587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Product sheet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04857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59721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Reg S / 144A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873752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965192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Investor gate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0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15184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Qualified/retail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21454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6318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MiFID categories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82588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37452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FCA categorisation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3723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98587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Accredited/instl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04857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59721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Accredited/QIB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623560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715000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AML / Travel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60320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15184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21454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6318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AMLD · TFR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82588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37452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MLR 2017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43723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98587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MAS Notice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604857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59721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BSA / FinCEN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648309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8922B"/>
                </a:solidFill>
                <a:latin typeface="Calibri"/>
              </a:rPr>
              <a:t>Enforced in the RuleEngine, not the UI: </a:t>
            </a:r>
            <a:r>
              <a:rPr sz="1250" b="0">
                <a:solidFill>
                  <a:srgbClr val="0F1A2B"/>
                </a:solidFill>
                <a:latin typeface="Calibri"/>
              </a:rPr>
              <a:t>wallet jurisdiction is checked on every transfer · Travel-Rule payloads off-chain (IVMS-101) · PII hashes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21208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Two thin layers — token + orchestrator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17904"/>
            <a:ext cx="10543032" cy="1828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402336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RCNToken.sol  (extends CMTAT)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thin: lifecycle DRIVEN by FireFly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mintOnSettlement(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bytes32 subId, address to,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onlyRole(ISSUER_ROLE)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// RuleEngine must pass: eligible+juris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_mint(to, u);  emit Minted(subId,to,u);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observeBarrier(uint256 lvlBps)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onlyRole(ORACLE_ROLE) { 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(lvlBps &lt; barrierBps) breached=true; 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settle(address h,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onlyRole(SETTLEMENT_ROLE)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bool physical = breached; _burn(h,u); 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45352" y="1828800"/>
            <a:ext cx="5120640" cy="402336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orchestrator.ts  (FireFly SDK)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idempotent on subscriptionId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async function onPaymentFinality(e){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(await alreadyMinted(e.subId))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return;              // dedupe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const ok = await compliance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.check(e.wallet, 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(!ok) return refundEscrow(e.subId);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await firefly.mintTokens(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{ pool: POOL, to: e.wallet,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amount: e.units },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{ requestId: e.subId,      // idem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confirm: true });   // wait final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FAILURE-FIRST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Reliability &amp; threat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6CDF"/>
                </a:solidFill>
                <a:latin typeface="Calibri"/>
              </a:rPr>
              <a:t>Failure handling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6032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event lost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durable FireFly stream + re-drive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Duplicate event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idempotency key, exactly-once mint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Cash settled, mint reverts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auto-refund escrow, no partial state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reorg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confirm:true, only finalized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dispute at barrier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signed feed + Pause if systemic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523951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03A3A"/>
                </a:solidFill>
                <a:latin typeface="Calibri"/>
              </a:rPr>
              <a:t>Threats →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56032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ISSUER_ROLE key compromise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HSM/MPC, multisig, per-op limits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manipulation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multi-source signed feed, dispute window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replay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end-to-end idempotency key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Eligibility bypass on resale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RuleEngine gates every transfer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PII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hashes only, private data exchange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 S → US-person leakage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jurisdiction attr enforced on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Invariant: </a:t>
            </a:r>
            <a:r>
              <a:rPr sz="1300" b="0">
                <a:solidFill>
                  <a:srgbClr val="0F1A2B"/>
                </a:solidFill>
                <a:latin typeface="Calibri"/>
              </a:rPr>
              <a:t>the reconciliation store — not the chain, not core banking alone — is the correlated source of truth. Both legs reconcile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FROM ZERO TO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Pragmatic build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0976" y="204825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Stand up FireFly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blockchain + token connector + event streams; prove mint/transfer/burn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0976" y="309981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Deploy CMTAT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permissioned EVM; wire RuleEngine with a stub eligibility rule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0976" y="415137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Recon + ISO 20022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idempotency store + pacs.002 finality on ONE rail (SEPA Inst sandbox)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976" y="520293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Escrow mint-on-finality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prove exactly-once + auto-refund reversal paths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37376" y="204825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snapshot→coupon, barrier oracle, maturity settle (cash &amp; physical)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6" y="309981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Compliance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KYC/AML, Travel Rule payloads, jurisdiction gating; PII off-chain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37376" y="415137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Second jurisdiction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generalize matrix into RuleEngine config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37376" y="520293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373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Audit + legal opinion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Solidity + orchestration audit, per-jurisdiction opinion before live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No warranty. Validate every control with licensed counsel and your regulators before production issuance.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COUPON &amp; REDEMPTION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Reverse leg — on-chain event → fiat-out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CMTAT
Token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353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FireFly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0321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88536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Recon /
Idemp.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0289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8504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Payout
Engine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257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48471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Settlement
Bank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225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39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50193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23957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778"/>
                </a:solidFill>
                <a:latin typeface="Calibri"/>
              </a:rPr>
              <a:t>coupon date / maturity / autocall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5840" y="2697480"/>
            <a:ext cx="2029968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7783" y="24048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event: Snapshot / Redeemed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35808" y="3108960"/>
            <a:ext cx="2029967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587751" y="28163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deliver(eventId, holders)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33375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778"/>
                </a:solidFill>
                <a:latin typeface="Calibri"/>
              </a:rPr>
              <a:t>idempotency: eventId unpaid?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65775" y="3794760"/>
            <a:ext cx="2029969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617719" y="35021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computeCoupon / par per holder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95744" y="4206240"/>
            <a:ext cx="2029967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647688" y="391363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pacs.008 instant credit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25711" y="4617720"/>
            <a:ext cx="2029968" cy="0"/>
          </a:xfrm>
          <a:prstGeom prst="bentConnector3">
            <a:avLst/>
          </a:prstGeom>
          <a:ln w="17780">
            <a:solidFill>
              <a:srgbClr val="C892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677655" y="432511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8922B"/>
                </a:solidFill>
                <a:latin typeface="Calibri"/>
              </a:rPr>
              <a:t>coupon / redemption par received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065775" y="5029200"/>
            <a:ext cx="4059936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32703" y="473659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pacs.002 payout finality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8536" y="51389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778"/>
                </a:solidFill>
                <a:latin typeface="Calibri"/>
              </a:rPr>
              <a:t>mark eventId settled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6053328"/>
            <a:ext cx="10543032" cy="566928"/>
          </a:xfrm>
          <a:prstGeom prst="roundRect">
            <a:avLst/>
          </a:prstGeom>
          <a:solidFill>
            <a:srgbClr val="EBF6F6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6126480"/>
            <a:ext cx="10241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Burn precedes payout (never reverse). Coupon uses the snapshot holder set, not live balance.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Physical settlement: burn on-chain + off-chain custodian delivery — no value ever moves on-chain.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SYNC + DIVERGENCE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Variant-B reconciler — chain ↔ transfer-agent 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2743200" cy="914400"/>
          </a:xfrm>
          <a:prstGeom prst="roundRect">
            <a:avLst/>
          </a:prstGeom>
          <a:solidFill>
            <a:srgbClr val="EBF6F6"/>
          </a:solidFill>
          <a:ln w="1778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84831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1A2B"/>
                </a:solidFill>
                <a:latin typeface="Calibri"/>
              </a:rPr>
              <a:t>Chain holders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CMTAT balances @ finalized block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119DA4"/>
                </a:solidFill>
                <a:latin typeface="Calibri"/>
              </a:rPr>
              <a:t>operational truth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2743200" cy="914400"/>
          </a:xfrm>
          <a:prstGeom prst="roundRect">
            <a:avLst/>
          </a:prstGeom>
          <a:solidFill>
            <a:srgbClr val="F1ECF8"/>
          </a:solidFill>
          <a:ln w="17780">
            <a:solidFill>
              <a:srgbClr val="7A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73552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1A2B"/>
                </a:solidFill>
                <a:latin typeface="Calibri"/>
              </a:rPr>
              <a:t>TA book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transfer-agent register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7A4FA8"/>
                </a:solidFill>
                <a:latin typeface="Calibri"/>
              </a:rPr>
              <a:t>LEGAL truth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2423160"/>
            <a:ext cx="246888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542032"/>
            <a:ext cx="2377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Reconciler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BFD2F0"/>
                </a:solidFill>
                <a:latin typeface="Calibri"/>
              </a:rPr>
              <a:t>holder-by-holder equality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BFD2F0"/>
                </a:solidFill>
                <a:latin typeface="Calibri"/>
              </a:rPr>
              <a:t>+ supply invariant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2423160"/>
            <a:ext cx="594360" cy="36576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566160" y="3246120"/>
            <a:ext cx="594360" cy="365760"/>
          </a:xfrm>
          <a:prstGeom prst="bentConnector3">
            <a:avLst/>
          </a:prstGeom>
          <a:ln w="20320">
            <a:solidFill>
              <a:srgbClr val="7A4FA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60" y="2011680"/>
            <a:ext cx="4114800" cy="822960"/>
          </a:xfrm>
          <a:prstGeom prst="roundRect">
            <a:avLst/>
          </a:prstGeom>
          <a:solidFill>
            <a:srgbClr val="ECF7EF"/>
          </a:solidFill>
          <a:ln w="1778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121408"/>
            <a:ext cx="38404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8B57"/>
                </a:solidFill>
                <a:latin typeface="Calibri"/>
              </a:rPr>
              <a:t>● IN_SYNC</a:t>
            </a:r>
            <a:r>
              <a:rPr sz="1150" b="0">
                <a:solidFill>
                  <a:srgbClr val="0F1A2B"/>
                </a:solidFill>
                <a:latin typeface="Calibri"/>
              </a:rPr>
              <a:t>  → record clean, allow payouts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971800"/>
            <a:ext cx="4114800" cy="1188720"/>
          </a:xfrm>
          <a:prstGeom prst="roundRect">
            <a:avLst/>
          </a:prstGeom>
          <a:solidFill>
            <a:srgbClr val="FBEEEE"/>
          </a:solidFill>
          <a:ln w="17780">
            <a:solidFill>
              <a:srgbClr val="C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3072384"/>
            <a:ext cx="3840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1">
                <a:solidFill>
                  <a:srgbClr val="C03A3A"/>
                </a:solidFill>
                <a:latin typeface="Calibri"/>
              </a:rPr>
              <a:t>● DIVERGENT</a:t>
            </a:r>
          </a:p>
          <a:p>
            <a:pPr algn="l">
              <a:lnSpc>
                <a:spcPct val="102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CMTAT pause() → alarm ops → block payouts.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Never auto-fix: TA book wins per governance;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chain corrected under documented control.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629400" y="2423160"/>
            <a:ext cx="594360" cy="365760"/>
          </a:xfrm>
          <a:prstGeom prst="bentConnector3">
            <a:avLst/>
          </a:prstGeom>
          <a:ln w="20320">
            <a:solidFill>
              <a:srgbClr val="2E8B57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29400" y="3246120"/>
            <a:ext cx="594360" cy="320040"/>
          </a:xfrm>
          <a:prstGeom prst="bentConnector3">
            <a:avLst/>
          </a:prstGeom>
          <a:ln w="20320">
            <a:solidFill>
              <a:srgbClr val="C03A3A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960" y="4617720"/>
            <a:ext cx="10543032" cy="160020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736592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D7E1F0"/>
                </a:solidFill>
                <a:latin typeface="Consolas"/>
              </a:rPr>
              <a:t>for (const h of holders)  if (chain[h] !== book[h])  diffs.push({h, chain[h], book[h]});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C8922B"/>
                </a:solidFill>
                <a:latin typeface="Consolas"/>
              </a:rPr>
              <a:t>if (chainTotal !== bookTotal || diffs.length)  { firefly.pause(); alarm.critical(diffs); }  // contain, don't fix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6BC58E"/>
                </a:solidFill>
                <a:latin typeface="Consolas"/>
              </a:rPr>
              <a:t>anchorReconciliation(block, bookMerkleRoot, inSync);   // tamper-evident proof, book stays off-chain, no PII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893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DC8"/>
                </a:solidFill>
                <a:latin typeface="Calibri"/>
              </a:rPr>
              <a:t>Triggered on every finalized token-event batch + heartbeat → drift caught in minutes, not at month-end.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PICK ONE PER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Design fork — is the token the register, or just the message?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50292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 · Token IS the register</a:t>
            </a:r>
            <a:r>
              <a:rPr sz="1100" b="0">
                <a:solidFill>
                  <a:srgbClr val="BFD2F0"/>
                </a:solidFill>
                <a:latin typeface="Calibri"/>
              </a:rPr>
              <a:t>   (ledger-based security)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Legal title lives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transfer = change of title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Needs DLT securities law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CH, EU Pilot, DE eWpG, LU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Minimal reconciliation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the chain IS the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Reach limited</a:t>
            </a:r>
            <a:r>
              <a:rPr sz="1300" b="0">
                <a:solidFill>
                  <a:srgbClr val="5A6778"/>
                </a:solidFill>
                <a:latin typeface="Calibri"/>
              </a:rPr>
              <a:t> to recognising jurisdictions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Best:</a:t>
            </a:r>
            <a:r>
              <a:rPr sz="1300" b="0">
                <a:solidFill>
                  <a:srgbClr val="5A6778"/>
                </a:solidFill>
                <a:latin typeface="Calibri"/>
              </a:rPr>
              <a:t> single friendly jurisdiction, full DLT-native finality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239512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126480" y="1828800"/>
            <a:ext cx="5239512" cy="50292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B · Token is only the message</a:t>
            </a:r>
            <a:r>
              <a:rPr sz="1100" b="1">
                <a:solidFill>
                  <a:srgbClr val="FFFFFF"/>
                </a:solidFill>
                <a:latin typeface="Calibri"/>
              </a:rPr>
              <a:t>   ✅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14600"/>
            <a:ext cx="48006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Register stays at transfer agent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TA book = legal truth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Needs no DLT securities law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deploy anywhere, US in scope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↔ TA book reconcile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chain = operational truth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Broad cross-border reach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conventional security everywhere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Best:</a:t>
            </a:r>
            <a:r>
              <a:rPr sz="1300" b="0">
                <a:solidFill>
                  <a:srgbClr val="5A6778"/>
                </a:solidFill>
                <a:latin typeface="Calibri"/>
              </a:rPr>
              <a:t> multi-jurisdiction rollout, minimise legal novelty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Code &amp; FireFly orchestration are identical. </a:t>
            </a:r>
            <a:r>
              <a:rPr sz="1300" b="0">
                <a:solidFill>
                  <a:srgbClr val="0F1A2B"/>
                </a:solidFill>
                <a:latin typeface="Calibri"/>
              </a:rPr>
              <a:t>Only the legal wrapper, reconciliation duty, and the “legal basis” matrix row change. For a cross-border TradFi→TradFi build, B is the natural default; reserve A for a Swiss-law (or EU-Pilot) issuance wanting on-chain title finality.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NO UNILATERAL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Governance — a specialist committee ranks &amp; signs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778"/>
                </a:solidFill>
                <a:latin typeface="Calibri"/>
              </a:rPr>
              <a:t>Every ranked decision — coordination model, register-vs-message fork, jurisdiction go/no-go, each RCN — is a committee decision, gated on-chain.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286000"/>
            <a:ext cx="91440" cy="77724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DLT / contract eng.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contract &amp; key-mgmt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2286000"/>
            <a:ext cx="91440" cy="77724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FireFly architecture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messaging &amp; reconciliation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416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00416" y="2286000"/>
            <a:ext cx="91440" cy="77724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4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Payments &amp; settlement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rail, escrow, §4 model rank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200400"/>
            <a:ext cx="91440" cy="777240"/>
          </a:xfrm>
          <a:prstGeom prst="rect">
            <a:avLst/>
          </a:prstGeom>
          <a:solidFill>
            <a:srgbClr val="7A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Securities law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classification, §11 fork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3200400"/>
            <a:ext cx="91440" cy="777240"/>
          </a:xfrm>
          <a:prstGeom prst="rect">
            <a:avLst/>
          </a:prstGeom>
          <a:solidFill>
            <a:srgbClr val="7A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AML / compliance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Travel Rule, §6 jurisdictions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0416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00416" y="3200400"/>
            <a:ext cx="91440" cy="77724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01584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Market / credit risk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barrier, issuer &amp; concentration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Quorum: legal + compliance + risk + one technical seat. Internal audit sits non-voting. Rankings minuted; dissents recorded.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709160"/>
            <a:ext cx="10543032" cy="150876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828032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8922B"/>
                </a:solidFill>
                <a:latin typeface="Calibri"/>
              </a:rPr>
              <a:t>Decision → on-chain gate  (approval is a mint precondition, not a PDF)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Committee sign-off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5576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39312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0752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recordCommitteeApproval(productId)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3328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7064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require(committeeApproved) → mint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14816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06256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cash released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053328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DC8"/>
                </a:solidFill>
                <a:latin typeface="Calibri"/>
              </a:rPr>
              <a:t>No committee sign-off  →  no product record  →  no mint  →  no cash. Authority bound end-to-end.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82296" cy="182880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Fiat in. Fiat out. TradFi both ends.</a:t>
            </a:r>
          </a:p>
          <a:p>
            <a:pPr algn="l">
              <a:lnSpc>
                <a:spcPct val="106000"/>
              </a:lnSpc>
            </a:pPr>
            <a:r>
              <a:rPr sz="2900" b="1">
                <a:solidFill>
                  <a:srgbClr val="BFD2F0"/>
                </a:solidFill>
                <a:latin typeface="Calibri"/>
              </a:rPr>
              <a:t>The DLT is the shared message bus —</a:t>
            </a:r>
          </a:p>
          <a:p>
            <a:pPr algn="l">
              <a:lnSpc>
                <a:spcPct val="106000"/>
              </a:lnSpc>
            </a:pPr>
            <a:r>
              <a:rPr sz="2900" b="1">
                <a:solidFill>
                  <a:srgbClr val="BFD2F0"/>
                </a:solidFill>
                <a:latin typeface="Calibri"/>
              </a:rPr>
              <a:t>correlation, not value transfer, is the architecture.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Recon store = source of truth   • Idempotency = exactly-once mint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RuleEngine gates every transfer   • PII off-chain, hashes on   • Escrow + auto-reversal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DC8"/>
                </a:solidFill>
                <a:latin typeface="Calibri"/>
              </a:rPr>
              <a:t>Full write-up, diagrams &amp; code skeletons in the companion repo &amp; gist.  Not legal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